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Archivo Black" charset="1" panose="020B0A03020202020B04"/>
      <p:regular r:id="rId32"/>
    </p:embeddedFont>
    <p:embeddedFont>
      <p:font typeface="Garet" charset="1" panose="00000000000000000000"/>
      <p:regular r:id="rId33"/>
    </p:embeddedFont>
    <p:embeddedFont>
      <p:font typeface="Canva Sans" charset="1" panose="020B0503030501040103"/>
      <p:regular r:id="rId34"/>
    </p:embeddedFont>
    <p:embeddedFont>
      <p:font typeface="Garet Bold" charset="1" panose="0000000000000000000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jpeg" Type="http://schemas.openxmlformats.org/officeDocument/2006/relationships/image"/><Relationship Id="rId4" Target="../media/image6.jpe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5255674" y="403654"/>
            <a:ext cx="1746831" cy="1761510"/>
          </a:xfrm>
          <a:custGeom>
            <a:avLst/>
            <a:gdLst/>
            <a:ahLst/>
            <a:cxnLst/>
            <a:rect r="r" b="b" t="t" l="l"/>
            <a:pathLst>
              <a:path h="1761510" w="1746831">
                <a:moveTo>
                  <a:pt x="0" y="0"/>
                </a:moveTo>
                <a:lnTo>
                  <a:pt x="1746831" y="0"/>
                </a:lnTo>
                <a:lnTo>
                  <a:pt x="1746831" y="1761511"/>
                </a:lnTo>
                <a:lnTo>
                  <a:pt x="0" y="1761511"/>
                </a:lnTo>
                <a:lnTo>
                  <a:pt x="0" y="0"/>
                </a:lnTo>
                <a:close/>
              </a:path>
            </a:pathLst>
          </a:custGeom>
          <a:blipFill>
            <a:blip r:embed="rId3"/>
            <a:stretch>
              <a:fillRect l="0" t="0" r="0" b="0"/>
            </a:stretch>
          </a:blipFill>
        </p:spPr>
      </p:sp>
      <p:sp>
        <p:nvSpPr>
          <p:cNvPr name="TextBox 4" id="4"/>
          <p:cNvSpPr txBox="true"/>
          <p:nvPr/>
        </p:nvSpPr>
        <p:spPr>
          <a:xfrm rot="0">
            <a:off x="0" y="2913520"/>
            <a:ext cx="17259300" cy="2229980"/>
          </a:xfrm>
          <a:prstGeom prst="rect">
            <a:avLst/>
          </a:prstGeom>
        </p:spPr>
        <p:txBody>
          <a:bodyPr anchor="t" rtlCol="false" tIns="0" lIns="0" bIns="0" rIns="0">
            <a:spAutoFit/>
          </a:bodyPr>
          <a:lstStyle/>
          <a:p>
            <a:pPr algn="r" marL="0" indent="0" lvl="0">
              <a:lnSpc>
                <a:spcPts val="8719"/>
              </a:lnSpc>
            </a:pPr>
            <a:r>
              <a:rPr lang="en-US" sz="7648" spc="-604">
                <a:solidFill>
                  <a:srgbClr val="000000"/>
                </a:solidFill>
                <a:latin typeface="Archivo Black"/>
                <a:ea typeface="Archivo Black"/>
                <a:cs typeface="Archivo Black"/>
                <a:sym typeface="Archivo Black"/>
              </a:rPr>
              <a:t>GPS - GUIDED AUTONOMOUS  DELIVERY  VEHICLE</a:t>
            </a:r>
          </a:p>
        </p:txBody>
      </p:sp>
      <p:sp>
        <p:nvSpPr>
          <p:cNvPr name="TextBox 5" id="5"/>
          <p:cNvSpPr txBox="true"/>
          <p:nvPr/>
        </p:nvSpPr>
        <p:spPr>
          <a:xfrm rot="0">
            <a:off x="12955731" y="6813550"/>
            <a:ext cx="4303569" cy="2624119"/>
          </a:xfrm>
          <a:prstGeom prst="rect">
            <a:avLst/>
          </a:prstGeom>
        </p:spPr>
        <p:txBody>
          <a:bodyPr anchor="t" rtlCol="false" tIns="0" lIns="0" bIns="0" rIns="0">
            <a:spAutoFit/>
          </a:bodyPr>
          <a:lstStyle/>
          <a:p>
            <a:pPr algn="r">
              <a:lnSpc>
                <a:spcPts val="3490"/>
              </a:lnSpc>
            </a:pPr>
            <a:r>
              <a:rPr lang="en-US" sz="2684">
                <a:solidFill>
                  <a:srgbClr val="2B2B2B"/>
                </a:solidFill>
                <a:latin typeface="Garet"/>
                <a:ea typeface="Garet"/>
                <a:cs typeface="Garet"/>
                <a:sym typeface="Garet"/>
              </a:rPr>
              <a:t>Kartikey - 24ECE1020</a:t>
            </a:r>
          </a:p>
          <a:p>
            <a:pPr algn="r">
              <a:lnSpc>
                <a:spcPts val="3490"/>
              </a:lnSpc>
            </a:pPr>
            <a:r>
              <a:rPr lang="en-US" sz="2684">
                <a:solidFill>
                  <a:srgbClr val="2B2B2B"/>
                </a:solidFill>
                <a:latin typeface="Garet"/>
                <a:ea typeface="Garet"/>
                <a:cs typeface="Garet"/>
                <a:sym typeface="Garet"/>
              </a:rPr>
              <a:t>Karun - 24ECE1021</a:t>
            </a:r>
          </a:p>
          <a:p>
            <a:pPr algn="r">
              <a:lnSpc>
                <a:spcPts val="3490"/>
              </a:lnSpc>
            </a:pPr>
            <a:r>
              <a:rPr lang="en-US" sz="2684">
                <a:solidFill>
                  <a:srgbClr val="2B2B2B"/>
                </a:solidFill>
                <a:latin typeface="Garet"/>
                <a:ea typeface="Garet"/>
                <a:cs typeface="Garet"/>
                <a:sym typeface="Garet"/>
              </a:rPr>
              <a:t>Kathan - 24ECE1022</a:t>
            </a:r>
          </a:p>
          <a:p>
            <a:pPr algn="r">
              <a:lnSpc>
                <a:spcPts val="3490"/>
              </a:lnSpc>
            </a:pPr>
            <a:r>
              <a:rPr lang="en-US" sz="2684">
                <a:solidFill>
                  <a:srgbClr val="2B2B2B"/>
                </a:solidFill>
                <a:latin typeface="Garet"/>
                <a:ea typeface="Garet"/>
                <a:cs typeface="Garet"/>
                <a:sym typeface="Garet"/>
              </a:rPr>
              <a:t>Palak - 24ECE1031</a:t>
            </a:r>
          </a:p>
          <a:p>
            <a:pPr algn="r" marL="0" indent="0" lvl="0">
              <a:lnSpc>
                <a:spcPts val="3490"/>
              </a:lnSpc>
              <a:spcBef>
                <a:spcPct val="0"/>
              </a:spcBef>
            </a:pPr>
            <a:r>
              <a:rPr lang="en-US" sz="2684">
                <a:solidFill>
                  <a:srgbClr val="2B2B2B"/>
                </a:solidFill>
                <a:latin typeface="Garet"/>
                <a:ea typeface="Garet"/>
                <a:cs typeface="Garet"/>
                <a:sym typeface="Garet"/>
              </a:rPr>
              <a:t>Mayuresh - 24ECE1053</a:t>
            </a:r>
          </a:p>
          <a:p>
            <a:pPr algn="r" marL="0" indent="0" lvl="0">
              <a:lnSpc>
                <a:spcPts val="3490"/>
              </a:lnSpc>
              <a:spcBef>
                <a:spcPct val="0"/>
              </a:spcBef>
            </a:pPr>
          </a:p>
        </p:txBody>
      </p:sp>
      <p:sp>
        <p:nvSpPr>
          <p:cNvPr name="TextBox 6" id="6"/>
          <p:cNvSpPr txBox="true"/>
          <p:nvPr/>
        </p:nvSpPr>
        <p:spPr>
          <a:xfrm rot="0">
            <a:off x="4274638" y="5143500"/>
            <a:ext cx="12984662" cy="685800"/>
          </a:xfrm>
          <a:prstGeom prst="rect">
            <a:avLst/>
          </a:prstGeom>
        </p:spPr>
        <p:txBody>
          <a:bodyPr anchor="t" rtlCol="false" tIns="0" lIns="0" bIns="0" rIns="0">
            <a:spAutoFit/>
          </a:bodyPr>
          <a:lstStyle/>
          <a:p>
            <a:pPr algn="r">
              <a:lnSpc>
                <a:spcPts val="5400"/>
              </a:lnSpc>
              <a:spcBef>
                <a:spcPct val="0"/>
              </a:spcBef>
            </a:pPr>
            <a:r>
              <a:rPr lang="en-US" sz="4500">
                <a:solidFill>
                  <a:srgbClr val="000000"/>
                </a:solidFill>
                <a:latin typeface="Garet"/>
                <a:ea typeface="Garet"/>
                <a:cs typeface="Garet"/>
                <a:sym typeface="Garet"/>
              </a:rPr>
              <a:t>EC 253 -  Sensor Technology Project </a:t>
            </a:r>
          </a:p>
        </p:txBody>
      </p:sp>
      <p:sp>
        <p:nvSpPr>
          <p:cNvPr name="TextBox 7" id="7"/>
          <p:cNvSpPr txBox="true"/>
          <p:nvPr/>
        </p:nvSpPr>
        <p:spPr>
          <a:xfrm rot="0">
            <a:off x="376248" y="729683"/>
            <a:ext cx="14475483" cy="1052538"/>
          </a:xfrm>
          <a:prstGeom prst="rect">
            <a:avLst/>
          </a:prstGeom>
        </p:spPr>
        <p:txBody>
          <a:bodyPr anchor="t" rtlCol="false" tIns="0" lIns="0" bIns="0" rIns="0">
            <a:spAutoFit/>
          </a:bodyPr>
          <a:lstStyle/>
          <a:p>
            <a:pPr algn="r">
              <a:lnSpc>
                <a:spcPts val="4143"/>
              </a:lnSpc>
            </a:pPr>
            <a:r>
              <a:rPr lang="en-US" sz="3453">
                <a:solidFill>
                  <a:srgbClr val="000000"/>
                </a:solidFill>
                <a:latin typeface="Garet"/>
                <a:ea typeface="Garet"/>
                <a:cs typeface="Garet"/>
                <a:sym typeface="Garet"/>
              </a:rPr>
              <a:t>Department of Electronics and Communication Engineering</a:t>
            </a:r>
          </a:p>
          <a:p>
            <a:pPr algn="r">
              <a:lnSpc>
                <a:spcPts val="4143"/>
              </a:lnSpc>
              <a:spcBef>
                <a:spcPct val="0"/>
              </a:spcBef>
            </a:pPr>
            <a:r>
              <a:rPr lang="en-US" sz="3453">
                <a:solidFill>
                  <a:srgbClr val="000000"/>
                </a:solidFill>
                <a:latin typeface="Garet"/>
                <a:ea typeface="Garet"/>
                <a:cs typeface="Garet"/>
                <a:sym typeface="Garet"/>
              </a:rPr>
              <a:t>National Institute of Technology Goa</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5" id="5"/>
          <p:cNvSpPr txBox="true"/>
          <p:nvPr/>
        </p:nvSpPr>
        <p:spPr>
          <a:xfrm rot="0">
            <a:off x="1028700" y="1123950"/>
            <a:ext cx="7203393" cy="785704"/>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Project Overview </a:t>
            </a:r>
          </a:p>
        </p:txBody>
      </p:sp>
      <p:sp>
        <p:nvSpPr>
          <p:cNvPr name="TextBox 6" id="6"/>
          <p:cNvSpPr txBox="true"/>
          <p:nvPr/>
        </p:nvSpPr>
        <p:spPr>
          <a:xfrm rot="0">
            <a:off x="1028700" y="2294017"/>
            <a:ext cx="16230600" cy="6118225"/>
          </a:xfrm>
          <a:prstGeom prst="rect">
            <a:avLst/>
          </a:prstGeom>
        </p:spPr>
        <p:txBody>
          <a:bodyPr anchor="t" rtlCol="false" tIns="0" lIns="0" bIns="0" rIns="0">
            <a:spAutoFit/>
          </a:bodyPr>
          <a:lstStyle/>
          <a:p>
            <a:pPr algn="l" marL="539746" indent="-269873" lvl="1">
              <a:lnSpc>
                <a:spcPts val="3499"/>
              </a:lnSpc>
              <a:spcBef>
                <a:spcPct val="0"/>
              </a:spcBef>
              <a:buFont typeface="Arial"/>
              <a:buChar char="•"/>
            </a:pPr>
            <a:r>
              <a:rPr lang="en-US" sz="2499">
                <a:solidFill>
                  <a:srgbClr val="000000"/>
                </a:solidFill>
                <a:latin typeface="Garet"/>
                <a:ea typeface="Garet"/>
                <a:cs typeface="Garet"/>
                <a:sym typeface="Garet"/>
              </a:rPr>
              <a:t>Sy</a:t>
            </a:r>
            <a:r>
              <a:rPr lang="en-US" sz="2499">
                <a:solidFill>
                  <a:srgbClr val="000000"/>
                </a:solidFill>
                <a:latin typeface="Garet"/>
                <a:ea typeface="Garet"/>
                <a:cs typeface="Garet"/>
                <a:sym typeface="Garet"/>
              </a:rPr>
              <a:t>stem Introduction </a:t>
            </a:r>
          </a:p>
          <a:p>
            <a:pPr algn="l" marL="539746" indent="-269873" lvl="1">
              <a:lnSpc>
                <a:spcPts val="3499"/>
              </a:lnSpc>
              <a:spcBef>
                <a:spcPct val="0"/>
              </a:spcBef>
              <a:buFont typeface="Arial"/>
              <a:buChar char="•"/>
            </a:pPr>
            <a:r>
              <a:rPr lang="en-US" sz="2499">
                <a:solidFill>
                  <a:srgbClr val="000000"/>
                </a:solidFill>
                <a:latin typeface="Garet"/>
                <a:ea typeface="Garet"/>
                <a:cs typeface="Garet"/>
                <a:sym typeface="Garet"/>
              </a:rPr>
              <a:t>D</a:t>
            </a:r>
            <a:r>
              <a:rPr lang="en-US" sz="2499">
                <a:solidFill>
                  <a:srgbClr val="000000"/>
                </a:solidFill>
                <a:latin typeface="Garet"/>
                <a:ea typeface="Garet"/>
                <a:cs typeface="Garet"/>
                <a:sym typeface="Garet"/>
              </a:rPr>
              <a:t>esign Requirements &amp; Technical Goals</a:t>
            </a:r>
          </a:p>
          <a:p>
            <a:pPr algn="l" marL="539746" indent="-269873" lvl="1">
              <a:lnSpc>
                <a:spcPts val="3499"/>
              </a:lnSpc>
              <a:spcBef>
                <a:spcPct val="0"/>
              </a:spcBef>
              <a:buFont typeface="Arial"/>
              <a:buChar char="•"/>
            </a:pPr>
            <a:r>
              <a:rPr lang="en-US" sz="2499">
                <a:solidFill>
                  <a:srgbClr val="000000"/>
                </a:solidFill>
                <a:latin typeface="Garet"/>
                <a:ea typeface="Garet"/>
                <a:cs typeface="Garet"/>
                <a:sym typeface="Garet"/>
              </a:rPr>
              <a:t>Har</a:t>
            </a:r>
            <a:r>
              <a:rPr lang="en-US" sz="2499">
                <a:solidFill>
                  <a:srgbClr val="000000"/>
                </a:solidFill>
                <a:latin typeface="Garet"/>
                <a:ea typeface="Garet"/>
                <a:cs typeface="Garet"/>
                <a:sym typeface="Garet"/>
              </a:rPr>
              <a:t>dware Architecture &amp; Specifications</a:t>
            </a:r>
          </a:p>
          <a:p>
            <a:pPr algn="l" marL="539746" indent="-269873" lvl="1">
              <a:lnSpc>
                <a:spcPts val="3499"/>
              </a:lnSpc>
              <a:spcBef>
                <a:spcPct val="0"/>
              </a:spcBef>
              <a:buFont typeface="Arial"/>
              <a:buChar char="•"/>
            </a:pPr>
            <a:r>
              <a:rPr lang="en-US" sz="2499">
                <a:solidFill>
                  <a:srgbClr val="000000"/>
                </a:solidFill>
                <a:latin typeface="Garet"/>
                <a:ea typeface="Garet"/>
                <a:cs typeface="Garet"/>
                <a:sym typeface="Garet"/>
              </a:rPr>
              <a:t> Design and Implementation </a:t>
            </a:r>
          </a:p>
          <a:p>
            <a:pPr algn="l">
              <a:lnSpc>
                <a:spcPts val="3499"/>
              </a:lnSpc>
              <a:spcBef>
                <a:spcPct val="0"/>
              </a:spcBef>
            </a:pPr>
            <a:r>
              <a:rPr lang="en-US" sz="2499">
                <a:solidFill>
                  <a:srgbClr val="000000"/>
                </a:solidFill>
                <a:latin typeface="Garet"/>
                <a:ea typeface="Garet"/>
                <a:cs typeface="Garet"/>
                <a:sym typeface="Garet"/>
              </a:rPr>
              <a:t>              1.  System Overview</a:t>
            </a:r>
          </a:p>
          <a:p>
            <a:pPr algn="l">
              <a:lnSpc>
                <a:spcPts val="3499"/>
              </a:lnSpc>
              <a:spcBef>
                <a:spcPct val="0"/>
              </a:spcBef>
            </a:pPr>
            <a:r>
              <a:rPr lang="en-US" sz="2499">
                <a:solidFill>
                  <a:srgbClr val="000000"/>
                </a:solidFill>
                <a:latin typeface="Garet"/>
                <a:ea typeface="Garet"/>
                <a:cs typeface="Garet"/>
                <a:sym typeface="Garet"/>
              </a:rPr>
              <a:t>              2. </a:t>
            </a:r>
            <a:r>
              <a:rPr lang="en-US" sz="2499">
                <a:solidFill>
                  <a:srgbClr val="000000"/>
                </a:solidFill>
                <a:latin typeface="Garet"/>
                <a:ea typeface="Garet"/>
                <a:cs typeface="Garet"/>
                <a:sym typeface="Garet"/>
              </a:rPr>
              <a:t>Key Functional Blocks</a:t>
            </a:r>
          </a:p>
          <a:p>
            <a:pPr algn="l" marL="539746" indent="-269873" lvl="1">
              <a:lnSpc>
                <a:spcPts val="3499"/>
              </a:lnSpc>
              <a:buFont typeface="Arial"/>
              <a:buChar char="•"/>
            </a:pPr>
            <a:r>
              <a:rPr lang="en-US" sz="2499">
                <a:solidFill>
                  <a:srgbClr val="000000"/>
                </a:solidFill>
                <a:latin typeface="Garet"/>
                <a:ea typeface="Garet"/>
                <a:cs typeface="Garet"/>
                <a:sym typeface="Garet"/>
              </a:rPr>
              <a:t>Oper</a:t>
            </a:r>
            <a:r>
              <a:rPr lang="en-US" sz="2499">
                <a:solidFill>
                  <a:srgbClr val="000000"/>
                </a:solidFill>
                <a:latin typeface="Garet"/>
                <a:ea typeface="Garet"/>
                <a:cs typeface="Garet"/>
                <a:sym typeface="Garet"/>
              </a:rPr>
              <a:t>ational Workflow &amp; Mission Phases</a:t>
            </a:r>
          </a:p>
          <a:p>
            <a:pPr algn="l" marL="539746" indent="-269873" lvl="1">
              <a:lnSpc>
                <a:spcPts val="3499"/>
              </a:lnSpc>
              <a:buFont typeface="Arial"/>
              <a:buChar char="•"/>
            </a:pPr>
            <a:r>
              <a:rPr lang="en-US" sz="2499">
                <a:solidFill>
                  <a:srgbClr val="000000"/>
                </a:solidFill>
                <a:latin typeface="Garet"/>
                <a:ea typeface="Garet"/>
                <a:cs typeface="Garet"/>
                <a:sym typeface="Garet"/>
              </a:rPr>
              <a:t>Results and Conclusion</a:t>
            </a:r>
          </a:p>
          <a:p>
            <a:pPr algn="l">
              <a:lnSpc>
                <a:spcPts val="3499"/>
              </a:lnSpc>
            </a:pPr>
            <a:r>
              <a:rPr lang="en-US" sz="2499">
                <a:solidFill>
                  <a:srgbClr val="000000"/>
                </a:solidFill>
                <a:latin typeface="Garet"/>
                <a:ea typeface="Garet"/>
                <a:cs typeface="Garet"/>
                <a:sym typeface="Garet"/>
              </a:rPr>
              <a:t>             1. Results</a:t>
            </a:r>
          </a:p>
          <a:p>
            <a:pPr algn="l">
              <a:lnSpc>
                <a:spcPts val="3499"/>
              </a:lnSpc>
            </a:pPr>
            <a:r>
              <a:rPr lang="en-US" sz="2499">
                <a:solidFill>
                  <a:srgbClr val="000000"/>
                </a:solidFill>
                <a:latin typeface="Garet"/>
                <a:ea typeface="Garet"/>
                <a:cs typeface="Garet"/>
                <a:sym typeface="Garet"/>
              </a:rPr>
              <a:t>             2. </a:t>
            </a:r>
            <a:r>
              <a:rPr lang="en-US" sz="2499">
                <a:solidFill>
                  <a:srgbClr val="000000"/>
                </a:solidFill>
                <a:latin typeface="Garet"/>
                <a:ea typeface="Garet"/>
                <a:cs typeface="Garet"/>
                <a:sym typeface="Garet"/>
              </a:rPr>
              <a:t>Applications</a:t>
            </a:r>
          </a:p>
          <a:p>
            <a:pPr algn="l">
              <a:lnSpc>
                <a:spcPts val="3499"/>
              </a:lnSpc>
            </a:pPr>
            <a:r>
              <a:rPr lang="en-US" sz="2499">
                <a:solidFill>
                  <a:srgbClr val="000000"/>
                </a:solidFill>
                <a:latin typeface="Garet"/>
                <a:ea typeface="Garet"/>
                <a:cs typeface="Garet"/>
                <a:sym typeface="Garet"/>
              </a:rPr>
              <a:t>             3. Conclusion</a:t>
            </a:r>
          </a:p>
          <a:p>
            <a:pPr algn="l" marL="539746" indent="-269873" lvl="1">
              <a:lnSpc>
                <a:spcPts val="3499"/>
              </a:lnSpc>
              <a:buFont typeface="Arial"/>
              <a:buChar char="•"/>
            </a:pPr>
            <a:r>
              <a:rPr lang="en-US" sz="2499">
                <a:solidFill>
                  <a:srgbClr val="000000"/>
                </a:solidFill>
                <a:latin typeface="Garet"/>
                <a:ea typeface="Garet"/>
                <a:cs typeface="Garet"/>
                <a:sym typeface="Garet"/>
              </a:rPr>
              <a:t>Sources</a:t>
            </a:r>
            <a:r>
              <a:rPr lang="en-US" sz="2499">
                <a:solidFill>
                  <a:srgbClr val="000000"/>
                </a:solidFill>
                <a:latin typeface="Garet"/>
                <a:ea typeface="Garet"/>
                <a:cs typeface="Garet"/>
                <a:sym typeface="Garet"/>
              </a:rPr>
              <a:t> </a:t>
            </a:r>
          </a:p>
          <a:p>
            <a:pPr algn="l">
              <a:lnSpc>
                <a:spcPts val="3499"/>
              </a:lnSpc>
            </a:pPr>
          </a:p>
          <a:p>
            <a:pPr algn="l">
              <a:lnSpc>
                <a:spcPts val="3499"/>
              </a:lnSpc>
            </a:pP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3855615" y="3822515"/>
            <a:ext cx="13403685" cy="2304638"/>
          </a:xfrm>
          <a:prstGeom prst="rect">
            <a:avLst/>
          </a:prstGeom>
        </p:spPr>
        <p:txBody>
          <a:bodyPr anchor="t" rtlCol="false" tIns="0" lIns="0" bIns="0" rIns="0">
            <a:spAutoFit/>
          </a:bodyPr>
          <a:lstStyle/>
          <a:p>
            <a:pPr algn="r" marL="0" indent="0" lvl="0">
              <a:lnSpc>
                <a:spcPts val="8490"/>
              </a:lnSpc>
              <a:spcBef>
                <a:spcPct val="0"/>
              </a:spcBef>
            </a:pPr>
            <a:r>
              <a:rPr lang="en-US" sz="10885" spc="-859">
                <a:solidFill>
                  <a:srgbClr val="000000"/>
                </a:solidFill>
                <a:latin typeface="Archivo Black"/>
                <a:ea typeface="Archivo Black"/>
                <a:cs typeface="Archivo Black"/>
                <a:sym typeface="Archivo Black"/>
              </a:rPr>
              <a:t>SYSTEM INTRODUCTION</a:t>
            </a:r>
          </a:p>
        </p:txBody>
      </p:sp>
      <p:sp>
        <p:nvSpPr>
          <p:cNvPr name="TextBox 4" id="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5" id="5"/>
          <p:cNvSpPr txBox="true"/>
          <p:nvPr/>
        </p:nvSpPr>
        <p:spPr>
          <a:xfrm rot="0">
            <a:off x="1028700" y="1123950"/>
            <a:ext cx="13943252" cy="785704"/>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Executive Summary &amp; Project Intent</a:t>
            </a:r>
          </a:p>
        </p:txBody>
      </p:sp>
      <p:sp>
        <p:nvSpPr>
          <p:cNvPr name="TextBox 6" id="6"/>
          <p:cNvSpPr txBox="true"/>
          <p:nvPr/>
        </p:nvSpPr>
        <p:spPr>
          <a:xfrm rot="0">
            <a:off x="1047750" y="2339127"/>
            <a:ext cx="16230600" cy="4156076"/>
          </a:xfrm>
          <a:prstGeom prst="rect">
            <a:avLst/>
          </a:prstGeom>
        </p:spPr>
        <p:txBody>
          <a:bodyPr anchor="t" rtlCol="false" tIns="0" lIns="0" bIns="0" rIns="0">
            <a:spAutoFit/>
          </a:bodyPr>
          <a:lstStyle/>
          <a:p>
            <a:pPr algn="l">
              <a:lnSpc>
                <a:spcPts val="4174"/>
              </a:lnSpc>
            </a:pPr>
            <a:r>
              <a:rPr lang="en-US" sz="2499" spc="312">
                <a:solidFill>
                  <a:srgbClr val="000000"/>
                </a:solidFill>
                <a:latin typeface="Garet"/>
                <a:ea typeface="Garet"/>
                <a:cs typeface="Garet"/>
                <a:sym typeface="Garet"/>
              </a:rPr>
              <a:t>Campus log</a:t>
            </a:r>
            <a:r>
              <a:rPr lang="en-US" sz="2499" spc="312">
                <a:solidFill>
                  <a:srgbClr val="000000"/>
                </a:solidFill>
                <a:latin typeface="Garet"/>
                <a:ea typeface="Garet"/>
                <a:cs typeface="Garet"/>
                <a:sym typeface="Garet"/>
              </a:rPr>
              <a:t>istics, specifically the transit of documents, parcels, and inter department packages, traditionally rely on manual human trips between buildings. This project addresses the inefficiency of manual last mile delivery by automating the process through an autonomous robotic platform. By integrating modern spatial sensors and embedded web technologies, the DeliveryBot NITG provides a contactless, on demand delivery solution that operates entirely independently of remote control.</a:t>
            </a:r>
          </a:p>
          <a:p>
            <a:pPr algn="l">
              <a:lnSpc>
                <a:spcPts val="4174"/>
              </a:lnSpc>
            </a:pP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3855615" y="4205494"/>
            <a:ext cx="13403685" cy="3380963"/>
          </a:xfrm>
          <a:prstGeom prst="rect">
            <a:avLst/>
          </a:prstGeom>
        </p:spPr>
        <p:txBody>
          <a:bodyPr anchor="t" rtlCol="false" tIns="0" lIns="0" bIns="0" rIns="0">
            <a:spAutoFit/>
          </a:bodyPr>
          <a:lstStyle/>
          <a:p>
            <a:pPr algn="r" marL="0" indent="0" lvl="0">
              <a:lnSpc>
                <a:spcPts val="8490"/>
              </a:lnSpc>
              <a:spcBef>
                <a:spcPct val="0"/>
              </a:spcBef>
            </a:pPr>
            <a:r>
              <a:rPr lang="en-US" sz="10885" spc="-859">
                <a:solidFill>
                  <a:srgbClr val="000000"/>
                </a:solidFill>
                <a:latin typeface="Archivo Black"/>
                <a:ea typeface="Archivo Black"/>
                <a:cs typeface="Archivo Black"/>
                <a:sym typeface="Archivo Black"/>
              </a:rPr>
              <a:t>DESIGN REQUIREMENTS &amp; TECHNICAL GOALS</a:t>
            </a:r>
          </a:p>
        </p:txBody>
      </p:sp>
      <p:sp>
        <p:nvSpPr>
          <p:cNvPr name="TextBox 4" id="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5" id="5"/>
          <p:cNvSpPr txBox="true"/>
          <p:nvPr/>
        </p:nvSpPr>
        <p:spPr>
          <a:xfrm rot="0">
            <a:off x="1028700" y="1123950"/>
            <a:ext cx="11625055" cy="785704"/>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Objectives</a:t>
            </a:r>
          </a:p>
        </p:txBody>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
        <p:nvSpPr>
          <p:cNvPr name="TextBox 7" id="7"/>
          <p:cNvSpPr txBox="true"/>
          <p:nvPr/>
        </p:nvSpPr>
        <p:spPr>
          <a:xfrm rot="0">
            <a:off x="589250" y="2229608"/>
            <a:ext cx="16113696" cy="5848518"/>
          </a:xfrm>
          <a:prstGeom prst="rect">
            <a:avLst/>
          </a:prstGeom>
        </p:spPr>
        <p:txBody>
          <a:bodyPr anchor="t" rtlCol="false" tIns="0" lIns="0" bIns="0" rIns="0">
            <a:spAutoFit/>
          </a:bodyPr>
          <a:lstStyle/>
          <a:p>
            <a:pPr algn="l">
              <a:lnSpc>
                <a:spcPts val="3140"/>
              </a:lnSpc>
            </a:pPr>
            <a:r>
              <a:rPr lang="en-US" sz="2243" b="true">
                <a:solidFill>
                  <a:srgbClr val="000000"/>
                </a:solidFill>
                <a:latin typeface="Garet Bold"/>
                <a:ea typeface="Garet Bold"/>
                <a:cs typeface="Garet Bold"/>
                <a:sym typeface="Garet Bold"/>
              </a:rPr>
              <a:t>1. </a:t>
            </a:r>
            <a:r>
              <a:rPr lang="en-US" sz="2243">
                <a:solidFill>
                  <a:srgbClr val="000000"/>
                </a:solidFill>
                <a:latin typeface="Garet"/>
                <a:ea typeface="Garet"/>
                <a:cs typeface="Garet"/>
                <a:sym typeface="Garet"/>
              </a:rPr>
              <a:t>To design a physical 2WD differential drive prototype capable of autonomous navigation between predefined campus waypoints (e.g., Terekhol Hostel, Admin Block, Gyan Mandir).</a:t>
            </a:r>
          </a:p>
          <a:p>
            <a:pPr algn="l">
              <a:lnSpc>
                <a:spcPts val="3140"/>
              </a:lnSpc>
            </a:pPr>
          </a:p>
          <a:p>
            <a:pPr algn="l">
              <a:lnSpc>
                <a:spcPts val="3140"/>
              </a:lnSpc>
            </a:pPr>
            <a:r>
              <a:rPr lang="en-US" sz="2243">
                <a:solidFill>
                  <a:srgbClr val="000000"/>
                </a:solidFill>
                <a:latin typeface="Garet"/>
                <a:ea typeface="Garet"/>
                <a:cs typeface="Garet"/>
                <a:sym typeface="Garet"/>
              </a:rPr>
              <a:t> </a:t>
            </a:r>
            <a:r>
              <a:rPr lang="en-US" sz="2243" b="true">
                <a:solidFill>
                  <a:srgbClr val="000000"/>
                </a:solidFill>
                <a:latin typeface="Garet Bold"/>
                <a:ea typeface="Garet Bold"/>
                <a:cs typeface="Garet Bold"/>
                <a:sym typeface="Garet Bold"/>
              </a:rPr>
              <a:t>2. </a:t>
            </a:r>
            <a:r>
              <a:rPr lang="en-US" sz="2243">
                <a:solidFill>
                  <a:srgbClr val="000000"/>
                </a:solidFill>
                <a:latin typeface="Garet"/>
                <a:ea typeface="Garet"/>
                <a:cs typeface="Garet"/>
                <a:sym typeface="Garet"/>
              </a:rPr>
              <a:t>To implement a non-blocking C++ state machine architecture that eliminates processing delays and ensures real-time sensor responsiveness.</a:t>
            </a:r>
          </a:p>
          <a:p>
            <a:pPr algn="l">
              <a:lnSpc>
                <a:spcPts val="3140"/>
              </a:lnSpc>
            </a:pPr>
          </a:p>
          <a:p>
            <a:pPr algn="l">
              <a:lnSpc>
                <a:spcPts val="3140"/>
              </a:lnSpc>
            </a:pPr>
            <a:r>
              <a:rPr lang="en-US" sz="2243">
                <a:solidFill>
                  <a:srgbClr val="000000"/>
                </a:solidFill>
                <a:latin typeface="Garet"/>
                <a:ea typeface="Garet"/>
                <a:cs typeface="Garet"/>
                <a:sym typeface="Garet"/>
              </a:rPr>
              <a:t> </a:t>
            </a:r>
            <a:r>
              <a:rPr lang="en-US" sz="2243" b="true">
                <a:solidFill>
                  <a:srgbClr val="000000"/>
                </a:solidFill>
                <a:latin typeface="Garet Bold"/>
                <a:ea typeface="Garet Bold"/>
                <a:cs typeface="Garet Bold"/>
                <a:sym typeface="Garet Bold"/>
              </a:rPr>
              <a:t>3. </a:t>
            </a:r>
            <a:r>
              <a:rPr lang="en-US" sz="2243">
                <a:solidFill>
                  <a:srgbClr val="000000"/>
                </a:solidFill>
                <a:latin typeface="Garet"/>
                <a:ea typeface="Garet"/>
                <a:cs typeface="Garet"/>
                <a:sym typeface="Garet"/>
              </a:rPr>
              <a:t>To develop a mobile-first web User Interface (UI) hosted via an ESP32 Access Point for intuitive destination selection and dispatching</a:t>
            </a:r>
          </a:p>
          <a:p>
            <a:pPr algn="l">
              <a:lnSpc>
                <a:spcPts val="3140"/>
              </a:lnSpc>
            </a:pPr>
          </a:p>
          <a:p>
            <a:pPr algn="l">
              <a:lnSpc>
                <a:spcPts val="3140"/>
              </a:lnSpc>
            </a:pPr>
            <a:r>
              <a:rPr lang="en-US" sz="2243">
                <a:solidFill>
                  <a:srgbClr val="000000"/>
                </a:solidFill>
                <a:latin typeface="Garet"/>
                <a:ea typeface="Garet"/>
                <a:cs typeface="Garet"/>
                <a:sym typeface="Garet"/>
              </a:rPr>
              <a:t> </a:t>
            </a:r>
            <a:r>
              <a:rPr lang="en-US" sz="2243" b="true">
                <a:solidFill>
                  <a:srgbClr val="000000"/>
                </a:solidFill>
                <a:latin typeface="Garet Bold"/>
                <a:ea typeface="Garet Bold"/>
                <a:cs typeface="Garet Bold"/>
                <a:sym typeface="Garet Bold"/>
              </a:rPr>
              <a:t>4. </a:t>
            </a:r>
            <a:r>
              <a:rPr lang="en-US" sz="2243">
                <a:solidFill>
                  <a:srgbClr val="000000"/>
                </a:solidFill>
                <a:latin typeface="Garet"/>
                <a:ea typeface="Garet"/>
                <a:cs typeface="Garet"/>
                <a:sym typeface="Garet"/>
              </a:rPr>
              <a:t>To integrate a robust sensor suite combining GPS tracking and magnetic heading correction to overcome the limitations of straight-line GPS navigation on curved campus pathways.</a:t>
            </a:r>
          </a:p>
          <a:p>
            <a:pPr algn="l">
              <a:lnSpc>
                <a:spcPts val="3140"/>
              </a:lnSpc>
            </a:pPr>
          </a:p>
          <a:p>
            <a:pPr algn="l">
              <a:lnSpc>
                <a:spcPts val="3140"/>
              </a:lnSpc>
            </a:pPr>
            <a:r>
              <a:rPr lang="en-US" sz="2243">
                <a:solidFill>
                  <a:srgbClr val="000000"/>
                </a:solidFill>
                <a:latin typeface="Garet"/>
                <a:ea typeface="Garet"/>
                <a:cs typeface="Garet"/>
                <a:sym typeface="Garet"/>
              </a:rPr>
              <a:t> </a:t>
            </a:r>
            <a:r>
              <a:rPr lang="en-US" sz="2243" b="true">
                <a:solidFill>
                  <a:srgbClr val="000000"/>
                </a:solidFill>
                <a:latin typeface="Garet Bold"/>
                <a:ea typeface="Garet Bold"/>
                <a:cs typeface="Garet Bold"/>
                <a:sym typeface="Garet Bold"/>
              </a:rPr>
              <a:t>5. </a:t>
            </a:r>
            <a:r>
              <a:rPr lang="en-US" sz="2243">
                <a:solidFill>
                  <a:srgbClr val="000000"/>
                </a:solidFill>
                <a:latin typeface="Garet"/>
                <a:ea typeface="Garet"/>
                <a:cs typeface="Garet"/>
                <a:sym typeface="Garet"/>
              </a:rPr>
              <a:t>To deploy a sequential ultrasonic array that performs dynamic obstacle detection while actively preventing sensor crosstalk.</a:t>
            </a:r>
          </a:p>
          <a:p>
            <a:pPr algn="l">
              <a:lnSpc>
                <a:spcPts val="3140"/>
              </a:lnSpc>
            </a:pPr>
            <a:r>
              <a:rPr lang="en-US" sz="2243">
                <a:solidFill>
                  <a:srgbClr val="000000"/>
                </a:solidFill>
                <a:latin typeface="Garet"/>
                <a:ea typeface="Garet"/>
                <a:cs typeface="Garet"/>
                <a:sym typeface="Garet"/>
              </a:rPr>
              <a:t>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3855615" y="3868645"/>
            <a:ext cx="13403685" cy="3380963"/>
          </a:xfrm>
          <a:prstGeom prst="rect">
            <a:avLst/>
          </a:prstGeom>
        </p:spPr>
        <p:txBody>
          <a:bodyPr anchor="t" rtlCol="false" tIns="0" lIns="0" bIns="0" rIns="0">
            <a:spAutoFit/>
          </a:bodyPr>
          <a:lstStyle/>
          <a:p>
            <a:pPr algn="r" marL="0" indent="0" lvl="0">
              <a:lnSpc>
                <a:spcPts val="8490"/>
              </a:lnSpc>
              <a:spcBef>
                <a:spcPct val="0"/>
              </a:spcBef>
            </a:pPr>
            <a:r>
              <a:rPr lang="en-US" sz="10885" spc="-859">
                <a:solidFill>
                  <a:srgbClr val="000000"/>
                </a:solidFill>
                <a:latin typeface="Archivo Black"/>
                <a:ea typeface="Archivo Black"/>
                <a:cs typeface="Archivo Black"/>
                <a:sym typeface="Archivo Black"/>
              </a:rPr>
              <a:t>HARDWARE ARCHITECTURE &amp; SPECIFICATIONS</a:t>
            </a:r>
          </a:p>
        </p:txBody>
      </p:sp>
      <p:sp>
        <p:nvSpPr>
          <p:cNvPr name="TextBox 4" id="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5" id="5"/>
          <p:cNvSpPr txBox="true"/>
          <p:nvPr/>
        </p:nvSpPr>
        <p:spPr>
          <a:xfrm rot="0">
            <a:off x="1028700" y="1123950"/>
            <a:ext cx="11625055" cy="1519129"/>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Components Used</a:t>
            </a:r>
          </a:p>
          <a:p>
            <a:pPr algn="l">
              <a:lnSpc>
                <a:spcPts val="5808"/>
              </a:lnSpc>
            </a:pPr>
          </a:p>
        </p:txBody>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
        <p:nvSpPr>
          <p:cNvPr name="TextBox 7" id="7"/>
          <p:cNvSpPr txBox="true"/>
          <p:nvPr/>
        </p:nvSpPr>
        <p:spPr>
          <a:xfrm rot="0">
            <a:off x="1028700" y="2349499"/>
            <a:ext cx="16230600" cy="6842126"/>
          </a:xfrm>
          <a:prstGeom prst="rect">
            <a:avLst/>
          </a:prstGeom>
        </p:spPr>
        <p:txBody>
          <a:bodyPr anchor="t" rtlCol="false" tIns="0" lIns="0" bIns="0" rIns="0">
            <a:spAutoFit/>
          </a:bodyPr>
          <a:lstStyle/>
          <a:p>
            <a:pPr algn="l" marL="539746" indent="-269873" lvl="1">
              <a:lnSpc>
                <a:spcPts val="3649"/>
              </a:lnSpc>
              <a:buFont typeface="Arial"/>
              <a:buChar char="•"/>
            </a:pPr>
            <a:r>
              <a:rPr lang="en-US" b="true" sz="2499">
                <a:solidFill>
                  <a:srgbClr val="000000"/>
                </a:solidFill>
                <a:latin typeface="Garet Bold"/>
                <a:ea typeface="Garet Bold"/>
                <a:cs typeface="Garet Bold"/>
                <a:sym typeface="Garet Bold"/>
              </a:rPr>
              <a:t>Microcontroller</a:t>
            </a:r>
            <a:r>
              <a:rPr lang="en-US" b="true" sz="2499">
                <a:solidFill>
                  <a:srgbClr val="000000"/>
                </a:solidFill>
                <a:latin typeface="Garet Bold"/>
                <a:ea typeface="Garet Bold"/>
                <a:cs typeface="Garet Bold"/>
                <a:sym typeface="Garet Bold"/>
              </a:rPr>
              <a:t> (ESP32 WROOM-32): </a:t>
            </a:r>
            <a:r>
              <a:rPr lang="en-US" sz="2499">
                <a:solidFill>
                  <a:srgbClr val="000000"/>
                </a:solidFill>
                <a:latin typeface="Garet"/>
                <a:ea typeface="Garet"/>
                <a:cs typeface="Garet"/>
                <a:sym typeface="Garet"/>
              </a:rPr>
              <a:t>The central dual core processing unit running the Arduino framework. It manages the HTTP server (AP Mode), state machine logic, and hardware abstraction</a:t>
            </a:r>
          </a:p>
          <a:p>
            <a:pPr algn="l" marL="539746" indent="-269873" lvl="1">
              <a:lnSpc>
                <a:spcPts val="3649"/>
              </a:lnSpc>
              <a:buFont typeface="Arial"/>
              <a:buChar char="•"/>
            </a:pPr>
            <a:r>
              <a:rPr lang="en-US" b="true" sz="2499">
                <a:solidFill>
                  <a:srgbClr val="000000"/>
                </a:solidFill>
                <a:latin typeface="Garet Bold"/>
                <a:ea typeface="Garet Bold"/>
                <a:cs typeface="Garet Bold"/>
                <a:sym typeface="Garet Bold"/>
              </a:rPr>
              <a:t>Global Positioning System (NEO-6M): </a:t>
            </a:r>
            <a:r>
              <a:rPr lang="en-US" sz="2499">
                <a:solidFill>
                  <a:srgbClr val="000000"/>
                </a:solidFill>
                <a:latin typeface="Garet"/>
                <a:ea typeface="Garet"/>
                <a:cs typeface="Garet"/>
                <a:sym typeface="Garet"/>
              </a:rPr>
              <a:t>Interfaces via UART to provide 1Hz geographical coordinate fixes for macro navigation.</a:t>
            </a:r>
          </a:p>
          <a:p>
            <a:pPr algn="l" marL="539746" indent="-269873" lvl="1">
              <a:lnSpc>
                <a:spcPts val="3649"/>
              </a:lnSpc>
              <a:buFont typeface="Arial"/>
              <a:buChar char="•"/>
            </a:pPr>
            <a:r>
              <a:rPr lang="en-US" b="true" sz="2499">
                <a:solidFill>
                  <a:srgbClr val="000000"/>
                </a:solidFill>
                <a:latin typeface="Garet Bold"/>
                <a:ea typeface="Garet Bold"/>
                <a:cs typeface="Garet Bold"/>
                <a:sym typeface="Garet Bold"/>
              </a:rPr>
              <a:t>Magnetometer / Compass (HMC5883L/QMC5883L): </a:t>
            </a:r>
            <a:r>
              <a:rPr lang="en-US" sz="2499">
                <a:solidFill>
                  <a:srgbClr val="000000"/>
                </a:solidFill>
                <a:latin typeface="Garet"/>
                <a:ea typeface="Garet"/>
                <a:cs typeface="Garet"/>
                <a:sym typeface="Garet"/>
              </a:rPr>
              <a:t>Interfaces via I2C to provide continuous 8-point cardinal direction output for real-time heading correction.</a:t>
            </a:r>
          </a:p>
          <a:p>
            <a:pPr algn="l" marL="539746" indent="-269873" lvl="1">
              <a:lnSpc>
                <a:spcPts val="3649"/>
              </a:lnSpc>
              <a:buFont typeface="Arial"/>
              <a:buChar char="•"/>
            </a:pPr>
            <a:r>
              <a:rPr lang="en-US" b="true" sz="2499">
                <a:solidFill>
                  <a:srgbClr val="000000"/>
                </a:solidFill>
                <a:latin typeface="Garet Bold"/>
                <a:ea typeface="Garet Bold"/>
                <a:cs typeface="Garet Bold"/>
                <a:sym typeface="Garet Bold"/>
              </a:rPr>
              <a:t>Ultrasonic Sensor Array (3x HC-SR04):</a:t>
            </a:r>
            <a:r>
              <a:rPr lang="en-US" sz="2499">
                <a:solidFill>
                  <a:srgbClr val="000000"/>
                </a:solidFill>
                <a:latin typeface="Garet"/>
                <a:ea typeface="Garet"/>
                <a:cs typeface="Garet"/>
                <a:sym typeface="Garet"/>
              </a:rPr>
              <a:t> Positioned at the Left, Center, and Right of the chassis for spatial awareness and obstacle detection.</a:t>
            </a:r>
          </a:p>
          <a:p>
            <a:pPr algn="l" marL="539746" indent="-269873" lvl="1">
              <a:lnSpc>
                <a:spcPts val="3649"/>
              </a:lnSpc>
              <a:buFont typeface="Arial"/>
              <a:buChar char="•"/>
            </a:pPr>
            <a:r>
              <a:rPr lang="en-US" b="true" sz="2499">
                <a:solidFill>
                  <a:srgbClr val="000000"/>
                </a:solidFill>
                <a:latin typeface="Garet Bold"/>
                <a:ea typeface="Garet Bold"/>
                <a:cs typeface="Garet Bold"/>
                <a:sym typeface="Garet Bold"/>
              </a:rPr>
              <a:t>Motor Driver (L298N):</a:t>
            </a:r>
            <a:r>
              <a:rPr lang="en-US" sz="2499">
                <a:solidFill>
                  <a:srgbClr val="000000"/>
                </a:solidFill>
                <a:latin typeface="Garet"/>
                <a:ea typeface="Garet"/>
                <a:cs typeface="Garet"/>
                <a:sym typeface="Garet"/>
              </a:rPr>
              <a:t> Governs the 2WD differential chassis via PWM signals. It utilises an onboard 5V regulator to power the ESP32 logic, eliminating the need for a separate buck converter.</a:t>
            </a:r>
          </a:p>
          <a:p>
            <a:pPr algn="l" marL="539746" indent="-269873" lvl="1">
              <a:lnSpc>
                <a:spcPts val="3649"/>
              </a:lnSpc>
              <a:buFont typeface="Arial"/>
              <a:buChar char="•"/>
            </a:pPr>
            <a:r>
              <a:rPr lang="en-US" b="true" sz="2499">
                <a:solidFill>
                  <a:srgbClr val="000000"/>
                </a:solidFill>
                <a:latin typeface="Garet Bold"/>
                <a:ea typeface="Garet Bold"/>
                <a:cs typeface="Garet Bold"/>
                <a:sym typeface="Garet Bold"/>
              </a:rPr>
              <a:t>Drive Chassis:</a:t>
            </a:r>
            <a:r>
              <a:rPr lang="en-US" sz="2499">
                <a:solidFill>
                  <a:srgbClr val="000000"/>
                </a:solidFill>
                <a:latin typeface="Garet"/>
                <a:ea typeface="Garet"/>
                <a:cs typeface="Garet"/>
                <a:sym typeface="Garet"/>
              </a:rPr>
              <a:t> A 2WD differential-wheeled platform allowing independent left and right motor speed control for precise manoeuvring.</a:t>
            </a:r>
          </a:p>
          <a:p>
            <a:pPr algn="l">
              <a:lnSpc>
                <a:spcPts val="364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3855615" y="3868645"/>
            <a:ext cx="13403685" cy="2304638"/>
          </a:xfrm>
          <a:prstGeom prst="rect">
            <a:avLst/>
          </a:prstGeom>
        </p:spPr>
        <p:txBody>
          <a:bodyPr anchor="t" rtlCol="false" tIns="0" lIns="0" bIns="0" rIns="0">
            <a:spAutoFit/>
          </a:bodyPr>
          <a:lstStyle/>
          <a:p>
            <a:pPr algn="r" marL="0" indent="0" lvl="0">
              <a:lnSpc>
                <a:spcPts val="8490"/>
              </a:lnSpc>
              <a:spcBef>
                <a:spcPct val="0"/>
              </a:spcBef>
            </a:pPr>
            <a:r>
              <a:rPr lang="en-US" sz="10885" spc="-859">
                <a:solidFill>
                  <a:srgbClr val="000000"/>
                </a:solidFill>
                <a:latin typeface="Archivo Black"/>
                <a:ea typeface="Archivo Black"/>
                <a:cs typeface="Archivo Black"/>
                <a:sym typeface="Archivo Black"/>
              </a:rPr>
              <a:t>DESIGN AND IMPLEMENTATION</a:t>
            </a:r>
          </a:p>
        </p:txBody>
      </p:sp>
      <p:sp>
        <p:nvSpPr>
          <p:cNvPr name="TextBox 4" id="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5" id="5"/>
          <p:cNvSpPr txBox="true"/>
          <p:nvPr/>
        </p:nvSpPr>
        <p:spPr>
          <a:xfrm rot="0">
            <a:off x="1028700" y="1123950"/>
            <a:ext cx="11625055" cy="785704"/>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System Overview</a:t>
            </a:r>
          </a:p>
        </p:txBody>
      </p:sp>
      <p:sp>
        <p:nvSpPr>
          <p:cNvPr name="TextBox 6" id="6"/>
          <p:cNvSpPr txBox="true"/>
          <p:nvPr/>
        </p:nvSpPr>
        <p:spPr>
          <a:xfrm rot="0">
            <a:off x="1028700" y="2034327"/>
            <a:ext cx="16230600" cy="4679951"/>
          </a:xfrm>
          <a:prstGeom prst="rect">
            <a:avLst/>
          </a:prstGeom>
        </p:spPr>
        <p:txBody>
          <a:bodyPr anchor="t" rtlCol="false" tIns="0" lIns="0" bIns="0" rIns="0">
            <a:spAutoFit/>
          </a:bodyPr>
          <a:lstStyle/>
          <a:p>
            <a:pPr algn="l">
              <a:lnSpc>
                <a:spcPts val="4174"/>
              </a:lnSpc>
            </a:pPr>
            <a:r>
              <a:rPr lang="en-US" sz="2499" spc="312">
                <a:solidFill>
                  <a:srgbClr val="000000"/>
                </a:solidFill>
                <a:latin typeface="Garet"/>
                <a:ea typeface="Garet"/>
                <a:cs typeface="Garet"/>
                <a:sym typeface="Garet"/>
              </a:rPr>
              <a:t>The architecture of the Del</a:t>
            </a:r>
            <a:r>
              <a:rPr lang="en-US" sz="2499" spc="312">
                <a:solidFill>
                  <a:srgbClr val="000000"/>
                </a:solidFill>
                <a:latin typeface="Garet"/>
                <a:ea typeface="Garet"/>
                <a:cs typeface="Garet"/>
                <a:sym typeface="Garet"/>
              </a:rPr>
              <a:t>iveryBot is segmented into three distinct software and hardware layers: the Mobile Web Interface, the Navigation and Control Core, and the Hardware Abstraction Layer. Power distribution is streamlined; the main battery routes directly into the L298N motor driver, which leverages its internal 5V regulator to safely supply the ESP32 logic board and connected sensors. The entire software stack operates under strict non blocking principles, meaning no delay() functions are permitted, ensuring the robot can simultaneously serve the web UI, read GPS bytes, and poll ultrasonic echoes without freezing.</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1028700" y="1123950"/>
            <a:ext cx="11625055" cy="785704"/>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Key Functional Blocks</a:t>
            </a:r>
          </a:p>
        </p:txBody>
      </p:sp>
      <p:sp>
        <p:nvSpPr>
          <p:cNvPr name="TextBox 4" id="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
        <p:nvSpPr>
          <p:cNvPr name="TextBox 5" id="5"/>
          <p:cNvSpPr txBox="true"/>
          <p:nvPr/>
        </p:nvSpPr>
        <p:spPr>
          <a:xfrm rot="0">
            <a:off x="1028700" y="2445875"/>
            <a:ext cx="16230600" cy="6031231"/>
          </a:xfrm>
          <a:prstGeom prst="rect">
            <a:avLst/>
          </a:prstGeom>
        </p:spPr>
        <p:txBody>
          <a:bodyPr anchor="t" rtlCol="false" tIns="0" lIns="0" bIns="0" rIns="0">
            <a:spAutoFit/>
          </a:bodyPr>
          <a:lstStyle/>
          <a:p>
            <a:pPr algn="l">
              <a:lnSpc>
                <a:spcPts val="4049"/>
              </a:lnSpc>
            </a:pPr>
            <a:r>
              <a:rPr lang="en-US" sz="2699">
                <a:solidFill>
                  <a:srgbClr val="000000"/>
                </a:solidFill>
                <a:latin typeface="Garet"/>
                <a:ea typeface="Garet"/>
                <a:cs typeface="Garet"/>
                <a:sym typeface="Garet"/>
              </a:rPr>
              <a:t>1.  </a:t>
            </a:r>
            <a:r>
              <a:rPr lang="en-US" sz="2699" b="true">
                <a:solidFill>
                  <a:srgbClr val="000000"/>
                </a:solidFill>
                <a:latin typeface="Garet Bold"/>
                <a:ea typeface="Garet Bold"/>
                <a:cs typeface="Garet Bold"/>
                <a:sym typeface="Garet Bold"/>
              </a:rPr>
              <a:t> Central Processing Unit (ESP32)</a:t>
            </a:r>
          </a:p>
          <a:p>
            <a:pPr algn="l" marL="582925" indent="-291463" lvl="1">
              <a:lnSpc>
                <a:spcPts val="4049"/>
              </a:lnSpc>
              <a:buFont typeface="Arial"/>
              <a:buChar char="•"/>
            </a:pPr>
            <a:r>
              <a:rPr lang="en-US" b="true" sz="2699">
                <a:solidFill>
                  <a:srgbClr val="000000"/>
                </a:solidFill>
                <a:latin typeface="Garet Bold"/>
                <a:ea typeface="Garet Bold"/>
                <a:cs typeface="Garet Bold"/>
                <a:sym typeface="Garet Bold"/>
              </a:rPr>
              <a:t>Role:</a:t>
            </a:r>
            <a:r>
              <a:rPr lang="en-US" sz="2699">
                <a:solidFill>
                  <a:srgbClr val="000000"/>
                </a:solidFill>
                <a:latin typeface="Garet"/>
                <a:ea typeface="Garet"/>
                <a:cs typeface="Garet"/>
                <a:sym typeface="Garet"/>
              </a:rPr>
              <a:t> Acts as both the web server a</a:t>
            </a:r>
            <a:r>
              <a:rPr lang="en-US" sz="2699">
                <a:solidFill>
                  <a:srgbClr val="000000"/>
                </a:solidFill>
                <a:latin typeface="Garet"/>
                <a:ea typeface="Garet"/>
                <a:cs typeface="Garet"/>
                <a:sym typeface="Garet"/>
              </a:rPr>
              <a:t>nd the</a:t>
            </a:r>
            <a:r>
              <a:rPr lang="en-US" sz="2699">
                <a:solidFill>
                  <a:srgbClr val="000000"/>
                </a:solidFill>
                <a:latin typeface="Garet"/>
                <a:ea typeface="Garet"/>
                <a:cs typeface="Garet"/>
                <a:sym typeface="Garet"/>
              </a:rPr>
              <a:t> navigation brain. The ESP32 creates a local WiFi network (SSID: DeliveryBot_NITG) hosted at 192.168.4.1. The UI is stored in PROGMEM with Base64 encoded assets, allowing users to select a destination</a:t>
            </a:r>
            <a:r>
              <a:rPr lang="en-US" sz="2699">
                <a:solidFill>
                  <a:srgbClr val="000000"/>
                </a:solidFill>
                <a:latin typeface="Garet"/>
                <a:ea typeface="Garet"/>
                <a:cs typeface="Garet"/>
                <a:sym typeface="Garet"/>
              </a:rPr>
              <a:t> securely and trigger </a:t>
            </a:r>
            <a:r>
              <a:rPr lang="en-US" sz="2699">
                <a:solidFill>
                  <a:srgbClr val="000000"/>
                </a:solidFill>
                <a:latin typeface="Garet"/>
                <a:ea typeface="Garet"/>
                <a:cs typeface="Garet"/>
                <a:sym typeface="Garet"/>
              </a:rPr>
              <a:t>the dispatch sequence.</a:t>
            </a:r>
          </a:p>
          <a:p>
            <a:pPr algn="l">
              <a:lnSpc>
                <a:spcPts val="4049"/>
              </a:lnSpc>
            </a:pPr>
            <a:r>
              <a:rPr lang="en-US" sz="2699">
                <a:solidFill>
                  <a:srgbClr val="000000"/>
                </a:solidFill>
                <a:latin typeface="Garet"/>
                <a:ea typeface="Garet"/>
                <a:cs typeface="Garet"/>
                <a:sym typeface="Garet"/>
              </a:rPr>
              <a:t>2.</a:t>
            </a:r>
            <a:r>
              <a:rPr lang="en-US" b="true" sz="2699">
                <a:solidFill>
                  <a:srgbClr val="000000"/>
                </a:solidFill>
                <a:latin typeface="Garet Bold"/>
                <a:ea typeface="Garet Bold"/>
                <a:cs typeface="Garet Bold"/>
                <a:sym typeface="Garet Bold"/>
              </a:rPr>
              <a:t> Spatial Navigation Subsystem (GPS + Compass)</a:t>
            </a:r>
          </a:p>
          <a:p>
            <a:pPr algn="l" marL="582925" indent="-291463" lvl="1">
              <a:lnSpc>
                <a:spcPts val="4049"/>
              </a:lnSpc>
              <a:buFont typeface="Arial"/>
              <a:buChar char="•"/>
            </a:pPr>
            <a:r>
              <a:rPr lang="en-US" b="true" sz="2699">
                <a:solidFill>
                  <a:srgbClr val="000000"/>
                </a:solidFill>
                <a:latin typeface="Garet Bold"/>
                <a:ea typeface="Garet Bold"/>
                <a:cs typeface="Garet Bold"/>
                <a:sym typeface="Garet Bold"/>
              </a:rPr>
              <a:t>Role:</a:t>
            </a:r>
            <a:r>
              <a:rPr lang="en-US" sz="2699">
                <a:solidFill>
                  <a:srgbClr val="000000"/>
                </a:solidFill>
                <a:latin typeface="Garet"/>
                <a:ea typeface="Garet"/>
                <a:cs typeface="Garet"/>
                <a:sym typeface="Garet"/>
              </a:rPr>
              <a:t> Standard </a:t>
            </a:r>
            <a:r>
              <a:rPr lang="en-US" sz="2699">
                <a:solidFill>
                  <a:srgbClr val="000000"/>
                </a:solidFill>
                <a:latin typeface="Garet"/>
                <a:ea typeface="Garet"/>
                <a:cs typeface="Garet"/>
                <a:sym typeface="Garet"/>
              </a:rPr>
              <a:t>GPS logic dictates moving in a straight line between two points, which fails on curved campus roads. This subsystem utilises a Waypoint Queue. Pre-surveyed coordinates form a breadcrumb trail. The NEO-6M verifie</a:t>
            </a:r>
            <a:r>
              <a:rPr lang="en-US" sz="2699">
                <a:solidFill>
                  <a:srgbClr val="000000"/>
                </a:solidFill>
                <a:latin typeface="Garet"/>
                <a:ea typeface="Garet"/>
                <a:cs typeface="Garet"/>
                <a:sym typeface="Garet"/>
              </a:rPr>
              <a:t>s arrival at an intermediate node, while the magnetometer constantly corrects the chassis orientation to point toward the next specific coordinate in the queue.</a:t>
            </a:r>
          </a:p>
          <a:p>
            <a:pPr algn="l">
              <a:lnSpc>
                <a:spcPts val="4049"/>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12</a:t>
            </a:r>
          </a:p>
        </p:txBody>
      </p:sp>
      <p:sp>
        <p:nvSpPr>
          <p:cNvPr name="TextBox 6" id="6"/>
          <p:cNvSpPr txBox="true"/>
          <p:nvPr/>
        </p:nvSpPr>
        <p:spPr>
          <a:xfrm rot="0">
            <a:off x="1000125" y="2089785"/>
            <a:ext cx="16230600" cy="6031231"/>
          </a:xfrm>
          <a:prstGeom prst="rect">
            <a:avLst/>
          </a:prstGeom>
        </p:spPr>
        <p:txBody>
          <a:bodyPr anchor="t" rtlCol="false" tIns="0" lIns="0" bIns="0" rIns="0">
            <a:spAutoFit/>
          </a:bodyPr>
          <a:lstStyle/>
          <a:p>
            <a:pPr algn="l">
              <a:lnSpc>
                <a:spcPts val="4049"/>
              </a:lnSpc>
            </a:pPr>
            <a:r>
              <a:rPr lang="en-US" sz="2699">
                <a:solidFill>
                  <a:srgbClr val="000000"/>
                </a:solidFill>
                <a:latin typeface="Garet"/>
                <a:ea typeface="Garet"/>
                <a:cs typeface="Garet"/>
                <a:sym typeface="Garet"/>
              </a:rPr>
              <a:t>3.  </a:t>
            </a:r>
            <a:r>
              <a:rPr lang="en-US" sz="2699" b="true">
                <a:solidFill>
                  <a:srgbClr val="000000"/>
                </a:solidFill>
                <a:latin typeface="Garet Bold"/>
                <a:ea typeface="Garet Bold"/>
                <a:cs typeface="Garet Bold"/>
                <a:sym typeface="Garet Bold"/>
              </a:rPr>
              <a:t> Obstacle Detection Subsystem (Ultrasonic Array)</a:t>
            </a:r>
          </a:p>
          <a:p>
            <a:pPr algn="l" marL="582925" indent="-291463" lvl="1">
              <a:lnSpc>
                <a:spcPts val="4049"/>
              </a:lnSpc>
              <a:buFont typeface="Arial"/>
              <a:buChar char="•"/>
            </a:pPr>
            <a:r>
              <a:rPr lang="en-US" b="true" sz="2699">
                <a:solidFill>
                  <a:srgbClr val="000000"/>
                </a:solidFill>
                <a:latin typeface="Garet Bold"/>
                <a:ea typeface="Garet Bold"/>
                <a:cs typeface="Garet Bold"/>
                <a:sym typeface="Garet Bold"/>
              </a:rPr>
              <a:t>Role:</a:t>
            </a:r>
            <a:r>
              <a:rPr lang="en-US" sz="2699">
                <a:solidFill>
                  <a:srgbClr val="000000"/>
                </a:solidFill>
                <a:latin typeface="Garet"/>
                <a:ea typeface="Garet"/>
                <a:cs typeface="Garet"/>
                <a:sym typeface="Garet"/>
              </a:rPr>
              <a:t> Three HC-SR04 sensors provide a</a:t>
            </a:r>
            <a:r>
              <a:rPr lang="en-US" sz="2699">
                <a:solidFill>
                  <a:srgbClr val="000000"/>
                </a:solidFill>
                <a:latin typeface="Garet"/>
                <a:ea typeface="Garet"/>
                <a:cs typeface="Garet"/>
                <a:sym typeface="Garet"/>
              </a:rPr>
              <a:t> forw</a:t>
            </a:r>
            <a:r>
              <a:rPr lang="en-US" sz="2699">
                <a:solidFill>
                  <a:srgbClr val="000000"/>
                </a:solidFill>
                <a:latin typeface="Garet"/>
                <a:ea typeface="Garet"/>
                <a:cs typeface="Garet"/>
                <a:sym typeface="Garet"/>
              </a:rPr>
              <a:t>ard-facing spatial sweep. To prevent ultrasonic signals from bouncing and triggering false positives in adjacent sensors (crosstalk), the firmware enforces sequential firing. The state machine reads these values continuously; if an</a:t>
            </a:r>
            <a:r>
              <a:rPr lang="en-US" sz="2699">
                <a:solidFill>
                  <a:srgbClr val="000000"/>
                </a:solidFill>
                <a:latin typeface="Garet"/>
                <a:ea typeface="Garet"/>
                <a:cs typeface="Garet"/>
                <a:sym typeface="Garet"/>
              </a:rPr>
              <a:t> obstacle breaches the distance threshold, </a:t>
            </a:r>
            <a:r>
              <a:rPr lang="en-US" sz="2699">
                <a:solidFill>
                  <a:srgbClr val="000000"/>
                </a:solidFill>
                <a:latin typeface="Garet"/>
                <a:ea typeface="Garet"/>
                <a:cs typeface="Garet"/>
                <a:sym typeface="Garet"/>
              </a:rPr>
              <a:t>the robot transitions to a halt state.</a:t>
            </a:r>
          </a:p>
          <a:p>
            <a:pPr algn="l">
              <a:lnSpc>
                <a:spcPts val="4049"/>
              </a:lnSpc>
            </a:pPr>
          </a:p>
          <a:p>
            <a:pPr algn="l">
              <a:lnSpc>
                <a:spcPts val="4049"/>
              </a:lnSpc>
            </a:pPr>
            <a:r>
              <a:rPr lang="en-US" sz="2699">
                <a:solidFill>
                  <a:srgbClr val="000000"/>
                </a:solidFill>
                <a:latin typeface="Garet"/>
                <a:ea typeface="Garet"/>
                <a:cs typeface="Garet"/>
                <a:sym typeface="Garet"/>
              </a:rPr>
              <a:t>4.</a:t>
            </a:r>
            <a:r>
              <a:rPr lang="en-US" b="true" sz="2699">
                <a:solidFill>
                  <a:srgbClr val="000000"/>
                </a:solidFill>
                <a:latin typeface="Garet Bold"/>
                <a:ea typeface="Garet Bold"/>
                <a:cs typeface="Garet Bold"/>
                <a:sym typeface="Garet Bold"/>
              </a:rPr>
              <a:t> Drive and Locomotion Subsystem</a:t>
            </a:r>
          </a:p>
          <a:p>
            <a:pPr algn="l" marL="582925" indent="-291463" lvl="1">
              <a:lnSpc>
                <a:spcPts val="4049"/>
              </a:lnSpc>
              <a:buFont typeface="Arial"/>
              <a:buChar char="•"/>
            </a:pPr>
            <a:r>
              <a:rPr lang="en-US" b="true" sz="2699">
                <a:solidFill>
                  <a:srgbClr val="000000"/>
                </a:solidFill>
                <a:latin typeface="Garet Bold"/>
                <a:ea typeface="Garet Bold"/>
                <a:cs typeface="Garet Bold"/>
                <a:sym typeface="Garet Bold"/>
              </a:rPr>
              <a:t>Role: </a:t>
            </a:r>
            <a:r>
              <a:rPr lang="en-US" sz="2699">
                <a:solidFill>
                  <a:srgbClr val="000000"/>
                </a:solidFill>
                <a:latin typeface="Garet"/>
                <a:ea typeface="Garet"/>
                <a:cs typeface="Garet"/>
                <a:sym typeface="Garet"/>
              </a:rPr>
              <a:t>The L298N accepts variable </a:t>
            </a:r>
            <a:r>
              <a:rPr lang="en-US" sz="2699">
                <a:solidFill>
                  <a:srgbClr val="000000"/>
                </a:solidFill>
                <a:latin typeface="Garet"/>
                <a:ea typeface="Garet"/>
                <a:cs typeface="Garet"/>
                <a:sym typeface="Garet"/>
              </a:rPr>
              <a:t>Pulse Width Modulation (PWM) signals generated by the ESP32's LEDC peripheral. By manipulating the duty cycle independently for the lef</a:t>
            </a:r>
            <a:r>
              <a:rPr lang="en-US" sz="2699">
                <a:solidFill>
                  <a:srgbClr val="000000"/>
                </a:solidFill>
                <a:latin typeface="Garet"/>
                <a:ea typeface="Garet"/>
                <a:cs typeface="Garet"/>
                <a:sym typeface="Garet"/>
              </a:rPr>
              <a:t>t and right motors, the state machine can execute pivot turns, smooth arcs, and straight-line acceleration phases.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858672" y="2372217"/>
            <a:ext cx="7053943" cy="6172200"/>
          </a:xfrm>
          <a:custGeom>
            <a:avLst/>
            <a:gdLst/>
            <a:ahLst/>
            <a:cxnLst/>
            <a:rect r="r" b="b" t="t" l="l"/>
            <a:pathLst>
              <a:path h="6172200" w="7053943">
                <a:moveTo>
                  <a:pt x="0" y="0"/>
                </a:moveTo>
                <a:lnTo>
                  <a:pt x="7053943" y="0"/>
                </a:lnTo>
                <a:lnTo>
                  <a:pt x="7053943" y="6172200"/>
                </a:lnTo>
                <a:lnTo>
                  <a:pt x="0" y="6172200"/>
                </a:lnTo>
                <a:lnTo>
                  <a:pt x="0" y="0"/>
                </a:lnTo>
                <a:close/>
              </a:path>
            </a:pathLst>
          </a:custGeom>
          <a:blipFill>
            <a:blip r:embed="rId3"/>
            <a:stretch>
              <a:fillRect l="0" t="0" r="0" b="0"/>
            </a:stretch>
          </a:blipFill>
        </p:spPr>
      </p:sp>
      <p:sp>
        <p:nvSpPr>
          <p:cNvPr name="Freeform 4" id="4"/>
          <p:cNvSpPr/>
          <p:nvPr/>
        </p:nvSpPr>
        <p:spPr>
          <a:xfrm flipH="false" flipV="false" rot="0">
            <a:off x="11519437" y="2372217"/>
            <a:ext cx="4767719" cy="6356958"/>
          </a:xfrm>
          <a:custGeom>
            <a:avLst/>
            <a:gdLst/>
            <a:ahLst/>
            <a:cxnLst/>
            <a:rect r="r" b="b" t="t" l="l"/>
            <a:pathLst>
              <a:path h="6356958" w="4767719">
                <a:moveTo>
                  <a:pt x="0" y="0"/>
                </a:moveTo>
                <a:lnTo>
                  <a:pt x="4767718" y="0"/>
                </a:lnTo>
                <a:lnTo>
                  <a:pt x="4767718" y="6356958"/>
                </a:lnTo>
                <a:lnTo>
                  <a:pt x="0" y="6356958"/>
                </a:lnTo>
                <a:lnTo>
                  <a:pt x="0" y="0"/>
                </a:lnTo>
                <a:close/>
              </a:path>
            </a:pathLst>
          </a:custGeom>
          <a:blipFill>
            <a:blip r:embed="rId4"/>
            <a:stretch>
              <a:fillRect l="0" t="0" r="0" b="0"/>
            </a:stretch>
          </a:blipFill>
        </p:spPr>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sp>
        <p:nvSpPr>
          <p:cNvPr name="TextBox 6" id="6"/>
          <p:cNvSpPr txBox="true"/>
          <p:nvPr/>
        </p:nvSpPr>
        <p:spPr>
          <a:xfrm rot="0">
            <a:off x="1028700" y="828675"/>
            <a:ext cx="13144994" cy="785704"/>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DeliveryBot NITG: Final Assembly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2314827" y="3868645"/>
            <a:ext cx="14944473" cy="3380963"/>
          </a:xfrm>
          <a:prstGeom prst="rect">
            <a:avLst/>
          </a:prstGeom>
        </p:spPr>
        <p:txBody>
          <a:bodyPr anchor="t" rtlCol="false" tIns="0" lIns="0" bIns="0" rIns="0">
            <a:spAutoFit/>
          </a:bodyPr>
          <a:lstStyle/>
          <a:p>
            <a:pPr algn="r" marL="0" indent="0" lvl="0">
              <a:lnSpc>
                <a:spcPts val="8490"/>
              </a:lnSpc>
              <a:spcBef>
                <a:spcPct val="0"/>
              </a:spcBef>
            </a:pPr>
            <a:r>
              <a:rPr lang="en-US" sz="10885" spc="-859">
                <a:solidFill>
                  <a:srgbClr val="000000"/>
                </a:solidFill>
                <a:latin typeface="Archivo Black"/>
                <a:ea typeface="Archivo Black"/>
                <a:cs typeface="Archivo Black"/>
                <a:sym typeface="Archivo Black"/>
              </a:rPr>
              <a:t>OPERATIONAL WORKFLOW &amp; MISSION PHASES</a:t>
            </a:r>
          </a:p>
        </p:txBody>
      </p:sp>
      <p:sp>
        <p:nvSpPr>
          <p:cNvPr name="TextBox 4" id="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5" id="5"/>
          <p:cNvSpPr txBox="true"/>
          <p:nvPr/>
        </p:nvSpPr>
        <p:spPr>
          <a:xfrm rot="0">
            <a:off x="1028700" y="1123950"/>
            <a:ext cx="11625055" cy="785704"/>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Operations</a:t>
            </a:r>
          </a:p>
        </p:txBody>
      </p:sp>
      <p:sp>
        <p:nvSpPr>
          <p:cNvPr name="TextBox 6" id="6"/>
          <p:cNvSpPr txBox="true"/>
          <p:nvPr/>
        </p:nvSpPr>
        <p:spPr>
          <a:xfrm rot="0">
            <a:off x="1028700" y="2445875"/>
            <a:ext cx="16230600" cy="6473826"/>
          </a:xfrm>
          <a:prstGeom prst="rect">
            <a:avLst/>
          </a:prstGeom>
        </p:spPr>
        <p:txBody>
          <a:bodyPr anchor="t" rtlCol="false" tIns="0" lIns="0" bIns="0" rIns="0">
            <a:spAutoFit/>
          </a:bodyPr>
          <a:lstStyle/>
          <a:p>
            <a:pPr algn="l">
              <a:lnSpc>
                <a:spcPts val="3749"/>
              </a:lnSpc>
            </a:pPr>
            <a:r>
              <a:rPr lang="en-US" sz="2499">
                <a:solidFill>
                  <a:srgbClr val="000000"/>
                </a:solidFill>
                <a:latin typeface="Garet"/>
                <a:ea typeface="Garet"/>
                <a:cs typeface="Garet"/>
                <a:sym typeface="Garet"/>
              </a:rPr>
              <a:t>The</a:t>
            </a:r>
            <a:r>
              <a:rPr lang="en-US" sz="2499">
                <a:solidFill>
                  <a:srgbClr val="000000"/>
                </a:solidFill>
                <a:latin typeface="Garet"/>
                <a:ea typeface="Garet"/>
                <a:cs typeface="Garet"/>
                <a:sym typeface="Garet"/>
              </a:rPr>
              <a:t> operation of the</a:t>
            </a:r>
            <a:r>
              <a:rPr lang="en-US" sz="2499">
                <a:solidFill>
                  <a:srgbClr val="000000"/>
                </a:solidFill>
                <a:latin typeface="Garet"/>
                <a:ea typeface="Garet"/>
                <a:cs typeface="Garet"/>
                <a:sym typeface="Garet"/>
              </a:rPr>
              <a:t> autonomous delivery robot</a:t>
            </a:r>
            <a:r>
              <a:rPr lang="en-US" sz="2499">
                <a:solidFill>
                  <a:srgbClr val="000000"/>
                </a:solidFill>
                <a:latin typeface="Garet"/>
                <a:ea typeface="Garet"/>
                <a:cs typeface="Garet"/>
                <a:sym typeface="Garet"/>
              </a:rPr>
              <a:t> follows a strict sequential phase structure governed by its internal state machine:</a:t>
            </a:r>
          </a:p>
          <a:p>
            <a:pPr algn="l">
              <a:lnSpc>
                <a:spcPts val="3749"/>
              </a:lnSpc>
            </a:pPr>
          </a:p>
          <a:p>
            <a:pPr algn="l">
              <a:lnSpc>
                <a:spcPts val="3749"/>
              </a:lnSpc>
            </a:pPr>
            <a:r>
              <a:rPr lang="en-US" b="true" sz="2499">
                <a:solidFill>
                  <a:srgbClr val="000000"/>
                </a:solidFill>
                <a:latin typeface="Garet Bold"/>
                <a:ea typeface="Garet Bold"/>
                <a:cs typeface="Garet Bold"/>
                <a:sym typeface="Garet Bold"/>
              </a:rPr>
              <a:t>Phase 1:</a:t>
            </a:r>
            <a:r>
              <a:rPr lang="en-US" sz="2499">
                <a:solidFill>
                  <a:srgbClr val="000000"/>
                </a:solidFill>
                <a:latin typeface="Garet"/>
                <a:ea typeface="Garet"/>
                <a:cs typeface="Garet"/>
                <a:sym typeface="Garet"/>
              </a:rPr>
              <a:t> Initialization and UI Serving Upon boot, the ESP32 initializes all hardware peripherals and performs a silent diagnostic check (verifying I2C lines and UART streams). It broadcasts its AP WiFi network. A user connects via a smartphone, accesses the captive portal, and selects a predefined surveyed location (such as the Seminar Hall or Main Gate) from the HTML interface.</a:t>
            </a:r>
          </a:p>
          <a:p>
            <a:pPr algn="l">
              <a:lnSpc>
                <a:spcPts val="3749"/>
              </a:lnSpc>
            </a:pPr>
          </a:p>
          <a:p>
            <a:pPr algn="l">
              <a:lnSpc>
                <a:spcPts val="3749"/>
              </a:lnSpc>
            </a:pPr>
            <a:r>
              <a:rPr lang="en-US" b="true" sz="2499">
                <a:solidFill>
                  <a:srgbClr val="000000"/>
                </a:solidFill>
                <a:latin typeface="Garet Bold"/>
                <a:ea typeface="Garet Bold"/>
                <a:cs typeface="Garet Bold"/>
                <a:sym typeface="Garet Bold"/>
              </a:rPr>
              <a:t>Phase</a:t>
            </a:r>
            <a:r>
              <a:rPr lang="en-US" b="true" sz="2499">
                <a:solidFill>
                  <a:srgbClr val="000000"/>
                </a:solidFill>
                <a:latin typeface="Garet Bold"/>
                <a:ea typeface="Garet Bold"/>
                <a:cs typeface="Garet Bold"/>
                <a:sym typeface="Garet Bold"/>
              </a:rPr>
              <a:t> 2: </a:t>
            </a:r>
            <a:r>
              <a:rPr lang="en-US" sz="2499">
                <a:solidFill>
                  <a:srgbClr val="000000"/>
                </a:solidFill>
                <a:latin typeface="Garet"/>
                <a:ea typeface="Garet"/>
                <a:cs typeface="Garet"/>
                <a:sym typeface="Garet"/>
              </a:rPr>
              <a:t>Waypoint Queuing and Dispatch Once a destination is submitted, the handleDispatch() function is triggered. The system loads an array of intermediate GPS coordinates specific to that route. This queue ensures the robot follows the physical geometry of the campus roads rather than attempting to drive through buildings in a straight line.</a:t>
            </a:r>
          </a:p>
          <a:p>
            <a:pPr algn="l">
              <a:lnSpc>
                <a:spcPts val="3499"/>
              </a:lnSpc>
            </a:pPr>
          </a:p>
          <a:p>
            <a:pPr algn="l">
              <a:lnSpc>
                <a:spcPts val="3499"/>
              </a:lnSpc>
            </a:pP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16</a:t>
            </a:r>
          </a:p>
        </p:txBody>
      </p:sp>
      <p:sp>
        <p:nvSpPr>
          <p:cNvPr name="TextBox 6" id="6"/>
          <p:cNvSpPr txBox="true"/>
          <p:nvPr/>
        </p:nvSpPr>
        <p:spPr>
          <a:xfrm rot="0">
            <a:off x="1028700" y="962025"/>
            <a:ext cx="16230600" cy="7448551"/>
          </a:xfrm>
          <a:prstGeom prst="rect">
            <a:avLst/>
          </a:prstGeom>
        </p:spPr>
        <p:txBody>
          <a:bodyPr anchor="t" rtlCol="false" tIns="0" lIns="0" bIns="0" rIns="0">
            <a:spAutoFit/>
          </a:bodyPr>
          <a:lstStyle/>
          <a:p>
            <a:pPr algn="l">
              <a:lnSpc>
                <a:spcPts val="3749"/>
              </a:lnSpc>
            </a:pPr>
          </a:p>
          <a:p>
            <a:pPr algn="l">
              <a:lnSpc>
                <a:spcPts val="3749"/>
              </a:lnSpc>
            </a:pPr>
            <a:r>
              <a:rPr lang="en-US" b="true" sz="2499">
                <a:solidFill>
                  <a:srgbClr val="000000"/>
                </a:solidFill>
                <a:latin typeface="Garet Bold"/>
                <a:ea typeface="Garet Bold"/>
                <a:cs typeface="Garet Bold"/>
                <a:sym typeface="Garet Bold"/>
              </a:rPr>
              <a:t>Phase 3: </a:t>
            </a:r>
            <a:r>
              <a:rPr lang="en-US" sz="2499">
                <a:solidFill>
                  <a:srgbClr val="000000"/>
                </a:solidFill>
                <a:latin typeface="Garet"/>
                <a:ea typeface="Garet"/>
                <a:cs typeface="Garet"/>
                <a:sym typeface="Garet"/>
              </a:rPr>
              <a:t>Autonomous Tr</a:t>
            </a:r>
            <a:r>
              <a:rPr lang="en-US" sz="2499">
                <a:solidFill>
                  <a:srgbClr val="000000"/>
                </a:solidFill>
                <a:latin typeface="Garet"/>
                <a:ea typeface="Garet"/>
                <a:cs typeface="Garet"/>
                <a:sym typeface="Garet"/>
              </a:rPr>
              <a:t>an</a:t>
            </a:r>
            <a:r>
              <a:rPr lang="en-US" sz="2499">
                <a:solidFill>
                  <a:srgbClr val="000000"/>
                </a:solidFill>
                <a:latin typeface="Garet"/>
                <a:ea typeface="Garet"/>
                <a:cs typeface="Garet"/>
                <a:sym typeface="Garet"/>
              </a:rPr>
              <a:t>si</a:t>
            </a:r>
            <a:r>
              <a:rPr lang="en-US" sz="2499">
                <a:solidFill>
                  <a:srgbClr val="000000"/>
                </a:solidFill>
                <a:latin typeface="Garet"/>
                <a:ea typeface="Garet"/>
                <a:cs typeface="Garet"/>
                <a:sym typeface="Garet"/>
              </a:rPr>
              <a:t>t</a:t>
            </a:r>
            <a:r>
              <a:rPr lang="en-US" sz="2499">
                <a:solidFill>
                  <a:srgbClr val="000000"/>
                </a:solidFill>
                <a:latin typeface="Garet"/>
                <a:ea typeface="Garet"/>
                <a:cs typeface="Garet"/>
                <a:sym typeface="Garet"/>
              </a:rPr>
              <a:t> The robot eng</a:t>
            </a:r>
            <a:r>
              <a:rPr lang="en-US" sz="2499">
                <a:solidFill>
                  <a:srgbClr val="000000"/>
                </a:solidFill>
                <a:latin typeface="Garet"/>
                <a:ea typeface="Garet"/>
                <a:cs typeface="Garet"/>
                <a:sym typeface="Garet"/>
              </a:rPr>
              <a:t>ages </a:t>
            </a:r>
            <a:r>
              <a:rPr lang="en-US" sz="2499">
                <a:solidFill>
                  <a:srgbClr val="000000"/>
                </a:solidFill>
                <a:latin typeface="Garet"/>
                <a:ea typeface="Garet"/>
                <a:cs typeface="Garet"/>
                <a:sym typeface="Garet"/>
              </a:rPr>
              <a:t>the drive mot</a:t>
            </a:r>
            <a:r>
              <a:rPr lang="en-US" sz="2499">
                <a:solidFill>
                  <a:srgbClr val="000000"/>
                </a:solidFill>
                <a:latin typeface="Garet"/>
                <a:ea typeface="Garet"/>
                <a:cs typeface="Garet"/>
                <a:sym typeface="Garet"/>
              </a:rPr>
              <a:t>o</a:t>
            </a:r>
            <a:r>
              <a:rPr lang="en-US" sz="2499">
                <a:solidFill>
                  <a:srgbClr val="000000"/>
                </a:solidFill>
                <a:latin typeface="Garet"/>
                <a:ea typeface="Garet"/>
                <a:cs typeface="Garet"/>
                <a:sym typeface="Garet"/>
              </a:rPr>
              <a:t>rs.</a:t>
            </a:r>
            <a:r>
              <a:rPr lang="en-US" sz="2499">
                <a:solidFill>
                  <a:srgbClr val="000000"/>
                </a:solidFill>
                <a:latin typeface="Garet"/>
                <a:ea typeface="Garet"/>
                <a:cs typeface="Garet"/>
                <a:sym typeface="Garet"/>
              </a:rPr>
              <a:t> </a:t>
            </a:r>
            <a:r>
              <a:rPr lang="en-US" sz="2499">
                <a:solidFill>
                  <a:srgbClr val="000000"/>
                </a:solidFill>
                <a:latin typeface="Garet"/>
                <a:ea typeface="Garet"/>
                <a:cs typeface="Garet"/>
                <a:sym typeface="Garet"/>
              </a:rPr>
              <a:t>During transit, the non blocking loop continuously drains bytes from the NEO-6M GPS module to calculate distance to the current active waypoint. Simultaneously, it reads the magnetometer to calculate the required steering angle, adjusting the left and right motor PWM values dynamically to maintain the correct heading.</a:t>
            </a:r>
          </a:p>
          <a:p>
            <a:pPr algn="l">
              <a:lnSpc>
                <a:spcPts val="3749"/>
              </a:lnSpc>
            </a:pPr>
          </a:p>
          <a:p>
            <a:pPr algn="l">
              <a:lnSpc>
                <a:spcPts val="3749"/>
              </a:lnSpc>
            </a:pPr>
            <a:r>
              <a:rPr lang="en-US" b="true" sz="2499">
                <a:solidFill>
                  <a:srgbClr val="000000"/>
                </a:solidFill>
                <a:latin typeface="Garet Bold"/>
                <a:ea typeface="Garet Bold"/>
                <a:cs typeface="Garet Bold"/>
                <a:sym typeface="Garet Bold"/>
              </a:rPr>
              <a:t>Phase 4:</a:t>
            </a:r>
            <a:r>
              <a:rPr lang="en-US" sz="2499">
                <a:solidFill>
                  <a:srgbClr val="000000"/>
                </a:solidFill>
                <a:latin typeface="Garet"/>
                <a:ea typeface="Garet"/>
                <a:cs typeface="Garet"/>
                <a:sym typeface="Garet"/>
              </a:rPr>
              <a:t> Real-Time Obstacle Avoidance. While moving, the ultrasonic array cycles continuously. If an obstacle is detected in the robot's path, the state machine instantly overrides the drive commands and halts the motors. In the current iteration, the robot waits for the obstacle to clear and retries the path. (Dynamic spatial re-routing around the obstacle is marked as a deferred upgrade for future versions) .</a:t>
            </a:r>
          </a:p>
          <a:p>
            <a:pPr algn="l">
              <a:lnSpc>
                <a:spcPts val="3749"/>
              </a:lnSpc>
            </a:pPr>
          </a:p>
          <a:p>
            <a:pPr algn="l">
              <a:lnSpc>
                <a:spcPts val="3749"/>
              </a:lnSpc>
            </a:pPr>
            <a:r>
              <a:rPr lang="en-US" b="true" sz="2499">
                <a:solidFill>
                  <a:srgbClr val="000000"/>
                </a:solidFill>
                <a:latin typeface="Garet Bold"/>
                <a:ea typeface="Garet Bold"/>
                <a:cs typeface="Garet Bold"/>
                <a:sym typeface="Garet Bold"/>
              </a:rPr>
              <a:t>Phase 5:</a:t>
            </a:r>
            <a:r>
              <a:rPr lang="en-US" sz="2499">
                <a:solidFill>
                  <a:srgbClr val="000000"/>
                </a:solidFill>
                <a:latin typeface="Garet"/>
                <a:ea typeface="Garet"/>
                <a:cs typeface="Garet"/>
                <a:sym typeface="Garet"/>
              </a:rPr>
              <a:t> Arrival and Standby Once the GPS module verifies that the robot has reached the final coordinate in the queue within an acceptable margin of error, the system halts the motors, updates the web UI to reflect a successful delivery, and enters a standby state awaiting the next dispatch command.</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062936" y="2588424"/>
            <a:ext cx="2932147" cy="5933982"/>
          </a:xfrm>
          <a:custGeom>
            <a:avLst/>
            <a:gdLst/>
            <a:ahLst/>
            <a:cxnLst/>
            <a:rect r="r" b="b" t="t" l="l"/>
            <a:pathLst>
              <a:path h="5933982" w="2932147">
                <a:moveTo>
                  <a:pt x="0" y="0"/>
                </a:moveTo>
                <a:lnTo>
                  <a:pt x="2932147" y="0"/>
                </a:lnTo>
                <a:lnTo>
                  <a:pt x="2932147" y="5933983"/>
                </a:lnTo>
                <a:lnTo>
                  <a:pt x="0" y="5933983"/>
                </a:lnTo>
                <a:lnTo>
                  <a:pt x="0" y="0"/>
                </a:lnTo>
                <a:close/>
              </a:path>
            </a:pathLst>
          </a:custGeom>
          <a:blipFill>
            <a:blip r:embed="rId3"/>
            <a:stretch>
              <a:fillRect l="0" t="-7128" r="0" b="0"/>
            </a:stretch>
          </a:blipFill>
        </p:spPr>
      </p:sp>
      <p:sp>
        <p:nvSpPr>
          <p:cNvPr name="Freeform 4" id="4"/>
          <p:cNvSpPr/>
          <p:nvPr/>
        </p:nvSpPr>
        <p:spPr>
          <a:xfrm flipH="false" flipV="false" rot="0">
            <a:off x="7709833" y="2607072"/>
            <a:ext cx="2900240" cy="5896686"/>
          </a:xfrm>
          <a:custGeom>
            <a:avLst/>
            <a:gdLst/>
            <a:ahLst/>
            <a:cxnLst/>
            <a:rect r="r" b="b" t="t" l="l"/>
            <a:pathLst>
              <a:path h="5896686" w="2900240">
                <a:moveTo>
                  <a:pt x="0" y="0"/>
                </a:moveTo>
                <a:lnTo>
                  <a:pt x="2900240" y="0"/>
                </a:lnTo>
                <a:lnTo>
                  <a:pt x="2900240" y="5896686"/>
                </a:lnTo>
                <a:lnTo>
                  <a:pt x="0" y="5896686"/>
                </a:lnTo>
                <a:lnTo>
                  <a:pt x="0" y="0"/>
                </a:lnTo>
                <a:close/>
              </a:path>
            </a:pathLst>
          </a:custGeom>
          <a:blipFill>
            <a:blip r:embed="rId4"/>
            <a:stretch>
              <a:fillRect l="-1100" t="-7805" r="0" b="0"/>
            </a:stretch>
          </a:blipFill>
        </p:spPr>
      </p:sp>
      <p:sp>
        <p:nvSpPr>
          <p:cNvPr name="Freeform 5" id="5"/>
          <p:cNvSpPr/>
          <p:nvPr/>
        </p:nvSpPr>
        <p:spPr>
          <a:xfrm flipH="false" flipV="false" rot="0">
            <a:off x="14324823" y="2195157"/>
            <a:ext cx="2932147" cy="5896686"/>
          </a:xfrm>
          <a:custGeom>
            <a:avLst/>
            <a:gdLst/>
            <a:ahLst/>
            <a:cxnLst/>
            <a:rect r="r" b="b" t="t" l="l"/>
            <a:pathLst>
              <a:path h="5896686" w="2932147">
                <a:moveTo>
                  <a:pt x="0" y="0"/>
                </a:moveTo>
                <a:lnTo>
                  <a:pt x="2932147" y="0"/>
                </a:lnTo>
                <a:lnTo>
                  <a:pt x="2932147" y="5896686"/>
                </a:lnTo>
                <a:lnTo>
                  <a:pt x="0" y="5896686"/>
                </a:lnTo>
                <a:lnTo>
                  <a:pt x="0" y="0"/>
                </a:lnTo>
                <a:close/>
              </a:path>
            </a:pathLst>
          </a:custGeom>
          <a:blipFill>
            <a:blip r:embed="rId4"/>
            <a:stretch>
              <a:fillRect l="0" t="-7805" r="0" b="0"/>
            </a:stretch>
          </a:blipFill>
        </p:spPr>
      </p:sp>
      <p:sp>
        <p:nvSpPr>
          <p:cNvPr name="Freeform 6" id="6"/>
          <p:cNvSpPr/>
          <p:nvPr/>
        </p:nvSpPr>
        <p:spPr>
          <a:xfrm flipH="false" flipV="false" rot="0">
            <a:off x="11909007" y="5143500"/>
            <a:ext cx="1195568" cy="1299531"/>
          </a:xfrm>
          <a:custGeom>
            <a:avLst/>
            <a:gdLst/>
            <a:ahLst/>
            <a:cxnLst/>
            <a:rect r="r" b="b" t="t" l="l"/>
            <a:pathLst>
              <a:path h="1299531" w="1195568">
                <a:moveTo>
                  <a:pt x="0" y="0"/>
                </a:moveTo>
                <a:lnTo>
                  <a:pt x="1195569" y="0"/>
                </a:lnTo>
                <a:lnTo>
                  <a:pt x="1195569" y="1299531"/>
                </a:lnTo>
                <a:lnTo>
                  <a:pt x="0" y="1299531"/>
                </a:lnTo>
                <a:lnTo>
                  <a:pt x="0" y="0"/>
                </a:lnTo>
                <a:close/>
              </a:path>
            </a:pathLst>
          </a:custGeom>
          <a:blipFill>
            <a:blip r:embed="rId5"/>
            <a:stretch>
              <a:fillRect l="0" t="0" r="0" b="0"/>
            </a:stretch>
          </a:blipFill>
        </p:spPr>
      </p:sp>
      <p:sp>
        <p:nvSpPr>
          <p:cNvPr name="Freeform 7" id="7"/>
          <p:cNvSpPr/>
          <p:nvPr/>
        </p:nvSpPr>
        <p:spPr>
          <a:xfrm flipH="true" flipV="false" rot="0">
            <a:off x="5285476" y="5143500"/>
            <a:ext cx="1167057" cy="1407635"/>
          </a:xfrm>
          <a:custGeom>
            <a:avLst/>
            <a:gdLst/>
            <a:ahLst/>
            <a:cxnLst/>
            <a:rect r="r" b="b" t="t" l="l"/>
            <a:pathLst>
              <a:path h="1407635" w="1167057">
                <a:moveTo>
                  <a:pt x="1167057" y="0"/>
                </a:moveTo>
                <a:lnTo>
                  <a:pt x="0" y="0"/>
                </a:lnTo>
                <a:lnTo>
                  <a:pt x="0" y="1407635"/>
                </a:lnTo>
                <a:lnTo>
                  <a:pt x="1167057" y="1407635"/>
                </a:lnTo>
                <a:lnTo>
                  <a:pt x="1167057"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4124163" y="5847317"/>
            <a:ext cx="1032234" cy="223079"/>
          </a:xfrm>
          <a:custGeom>
            <a:avLst/>
            <a:gdLst/>
            <a:ahLst/>
            <a:cxnLst/>
            <a:rect r="r" b="b" t="t" l="l"/>
            <a:pathLst>
              <a:path h="223079" w="1032234">
                <a:moveTo>
                  <a:pt x="0" y="0"/>
                </a:moveTo>
                <a:lnTo>
                  <a:pt x="1032234" y="0"/>
                </a:lnTo>
                <a:lnTo>
                  <a:pt x="1032234" y="223079"/>
                </a:lnTo>
                <a:lnTo>
                  <a:pt x="0" y="2230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17259300" y="9462770"/>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17</a:t>
            </a:r>
          </a:p>
        </p:txBody>
      </p:sp>
      <p:sp>
        <p:nvSpPr>
          <p:cNvPr name="TextBox 10" id="10"/>
          <p:cNvSpPr txBox="true"/>
          <p:nvPr/>
        </p:nvSpPr>
        <p:spPr>
          <a:xfrm rot="0">
            <a:off x="1028700" y="906164"/>
            <a:ext cx="16889770" cy="1519129"/>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End-to-End Delivery Sequence: From Selection to Arrival </a:t>
            </a:r>
          </a:p>
        </p:txBody>
      </p:sp>
      <p:sp>
        <p:nvSpPr>
          <p:cNvPr name="TextBox 11" id="11"/>
          <p:cNvSpPr txBox="true"/>
          <p:nvPr/>
        </p:nvSpPr>
        <p:spPr>
          <a:xfrm rot="0">
            <a:off x="692887" y="9005252"/>
            <a:ext cx="3672245" cy="372745"/>
          </a:xfrm>
          <a:prstGeom prst="rect">
            <a:avLst/>
          </a:prstGeom>
        </p:spPr>
        <p:txBody>
          <a:bodyPr anchor="t" rtlCol="false" tIns="0" lIns="0" bIns="0" rIns="0">
            <a:spAutoFit/>
          </a:bodyPr>
          <a:lstStyle/>
          <a:p>
            <a:pPr algn="l" marL="474979" indent="-237490" lvl="1">
              <a:lnSpc>
                <a:spcPts val="3079"/>
              </a:lnSpc>
              <a:spcBef>
                <a:spcPct val="0"/>
              </a:spcBef>
              <a:buAutoNum type="arabicPeriod" startAt="1"/>
            </a:pPr>
            <a:r>
              <a:rPr lang="en-US" b="true" sz="2199">
                <a:solidFill>
                  <a:srgbClr val="000000"/>
                </a:solidFill>
                <a:latin typeface="Garet Bold"/>
                <a:ea typeface="Garet Bold"/>
                <a:cs typeface="Garet Bold"/>
                <a:sym typeface="Garet Bold"/>
              </a:rPr>
              <a:t>Destination selection </a:t>
            </a:r>
          </a:p>
        </p:txBody>
      </p:sp>
      <p:sp>
        <p:nvSpPr>
          <p:cNvPr name="TextBox 12" id="12"/>
          <p:cNvSpPr txBox="true"/>
          <p:nvPr/>
        </p:nvSpPr>
        <p:spPr>
          <a:xfrm rot="0">
            <a:off x="13954775" y="9005252"/>
            <a:ext cx="3752612" cy="372745"/>
          </a:xfrm>
          <a:prstGeom prst="rect">
            <a:avLst/>
          </a:prstGeom>
        </p:spPr>
        <p:txBody>
          <a:bodyPr anchor="t" rtlCol="false" tIns="0" lIns="0" bIns="0" rIns="0">
            <a:spAutoFit/>
          </a:bodyPr>
          <a:lstStyle/>
          <a:p>
            <a:pPr algn="l" marL="474979" indent="-237490" lvl="1">
              <a:lnSpc>
                <a:spcPts val="3079"/>
              </a:lnSpc>
              <a:spcBef>
                <a:spcPct val="0"/>
              </a:spcBef>
              <a:buAutoNum type="arabicPeriod" startAt="1"/>
            </a:pPr>
            <a:r>
              <a:rPr lang="en-US" b="true" sz="2199">
                <a:solidFill>
                  <a:srgbClr val="000000"/>
                </a:solidFill>
                <a:latin typeface="Garet Bold"/>
                <a:ea typeface="Garet Bold"/>
                <a:cs typeface="Garet Bold"/>
                <a:sym typeface="Garet Bold"/>
              </a:rPr>
              <a:t>Completion &amp; Standby</a:t>
            </a:r>
          </a:p>
        </p:txBody>
      </p:sp>
      <p:sp>
        <p:nvSpPr>
          <p:cNvPr name="TextBox 13" id="13"/>
          <p:cNvSpPr txBox="true"/>
          <p:nvPr/>
        </p:nvSpPr>
        <p:spPr>
          <a:xfrm rot="0">
            <a:off x="7662684" y="9005252"/>
            <a:ext cx="2962632" cy="372745"/>
          </a:xfrm>
          <a:prstGeom prst="rect">
            <a:avLst/>
          </a:prstGeom>
        </p:spPr>
        <p:txBody>
          <a:bodyPr anchor="t" rtlCol="false" tIns="0" lIns="0" bIns="0" rIns="0">
            <a:spAutoFit/>
          </a:bodyPr>
          <a:lstStyle/>
          <a:p>
            <a:pPr algn="l" marL="474979" indent="-237490" lvl="1">
              <a:lnSpc>
                <a:spcPts val="3079"/>
              </a:lnSpc>
              <a:spcBef>
                <a:spcPct val="0"/>
              </a:spcBef>
              <a:buAutoNum type="arabicPeriod" startAt="1"/>
            </a:pPr>
            <a:r>
              <a:rPr lang="en-US" b="true" sz="2199">
                <a:solidFill>
                  <a:srgbClr val="000000"/>
                </a:solidFill>
                <a:latin typeface="Garet Bold"/>
                <a:ea typeface="Garet Bold"/>
                <a:cs typeface="Garet Bold"/>
                <a:sym typeface="Garet Bold"/>
              </a:rPr>
              <a:t>Mission Dispatch</a:t>
            </a:r>
          </a:p>
        </p:txBody>
      </p:sp>
      <p:sp>
        <p:nvSpPr>
          <p:cNvPr name="Freeform 14" id="14"/>
          <p:cNvSpPr/>
          <p:nvPr/>
        </p:nvSpPr>
        <p:spPr>
          <a:xfrm flipH="false" flipV="false" rot="0">
            <a:off x="6481108" y="5847317"/>
            <a:ext cx="1032234" cy="223079"/>
          </a:xfrm>
          <a:custGeom>
            <a:avLst/>
            <a:gdLst/>
            <a:ahLst/>
            <a:cxnLst/>
            <a:rect r="r" b="b" t="t" l="l"/>
            <a:pathLst>
              <a:path h="223079" w="1032234">
                <a:moveTo>
                  <a:pt x="0" y="0"/>
                </a:moveTo>
                <a:lnTo>
                  <a:pt x="1032234" y="0"/>
                </a:lnTo>
                <a:lnTo>
                  <a:pt x="1032234" y="223079"/>
                </a:lnTo>
                <a:lnTo>
                  <a:pt x="0" y="2230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10743423" y="5847317"/>
            <a:ext cx="1032234" cy="223079"/>
          </a:xfrm>
          <a:custGeom>
            <a:avLst/>
            <a:gdLst/>
            <a:ahLst/>
            <a:cxnLst/>
            <a:rect r="r" b="b" t="t" l="l"/>
            <a:pathLst>
              <a:path h="223079" w="1032234">
                <a:moveTo>
                  <a:pt x="0" y="0"/>
                </a:moveTo>
                <a:lnTo>
                  <a:pt x="1032234" y="0"/>
                </a:lnTo>
                <a:lnTo>
                  <a:pt x="1032234" y="223079"/>
                </a:lnTo>
                <a:lnTo>
                  <a:pt x="0" y="2230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3114101" y="5847317"/>
            <a:ext cx="1032234" cy="223079"/>
          </a:xfrm>
          <a:custGeom>
            <a:avLst/>
            <a:gdLst/>
            <a:ahLst/>
            <a:cxnLst/>
            <a:rect r="r" b="b" t="t" l="l"/>
            <a:pathLst>
              <a:path h="223079" w="1032234">
                <a:moveTo>
                  <a:pt x="0" y="0"/>
                </a:moveTo>
                <a:lnTo>
                  <a:pt x="1032234" y="0"/>
                </a:lnTo>
                <a:lnTo>
                  <a:pt x="1032234" y="223079"/>
                </a:lnTo>
                <a:lnTo>
                  <a:pt x="0" y="2230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3855615" y="3868645"/>
            <a:ext cx="13403685" cy="2304638"/>
          </a:xfrm>
          <a:prstGeom prst="rect">
            <a:avLst/>
          </a:prstGeom>
        </p:spPr>
        <p:txBody>
          <a:bodyPr anchor="t" rtlCol="false" tIns="0" lIns="0" bIns="0" rIns="0">
            <a:spAutoFit/>
          </a:bodyPr>
          <a:lstStyle/>
          <a:p>
            <a:pPr algn="r" marL="0" indent="0" lvl="0">
              <a:lnSpc>
                <a:spcPts val="8490"/>
              </a:lnSpc>
              <a:spcBef>
                <a:spcPct val="0"/>
              </a:spcBef>
            </a:pPr>
            <a:r>
              <a:rPr lang="en-US" sz="10885" spc="-859">
                <a:solidFill>
                  <a:srgbClr val="000000"/>
                </a:solidFill>
                <a:latin typeface="Archivo Black"/>
                <a:ea typeface="Archivo Black"/>
                <a:cs typeface="Archivo Black"/>
                <a:sym typeface="Archivo Black"/>
              </a:rPr>
              <a:t>VISIONARY &amp; INNOVATIVE</a:t>
            </a:r>
          </a:p>
        </p:txBody>
      </p:sp>
      <p:sp>
        <p:nvSpPr>
          <p:cNvPr name="TextBox 4" id="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18</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1028700" y="1123950"/>
            <a:ext cx="11625055" cy="785704"/>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Future Improvements</a:t>
            </a:r>
          </a:p>
        </p:txBody>
      </p:sp>
      <p:sp>
        <p:nvSpPr>
          <p:cNvPr name="TextBox 4" id="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19</a:t>
            </a:r>
          </a:p>
        </p:txBody>
      </p:sp>
      <p:sp>
        <p:nvSpPr>
          <p:cNvPr name="TextBox 5" id="5"/>
          <p:cNvSpPr txBox="true"/>
          <p:nvPr/>
        </p:nvSpPr>
        <p:spPr>
          <a:xfrm rot="0">
            <a:off x="1028700" y="2379200"/>
            <a:ext cx="16230600" cy="7040881"/>
          </a:xfrm>
          <a:prstGeom prst="rect">
            <a:avLst/>
          </a:prstGeom>
        </p:spPr>
        <p:txBody>
          <a:bodyPr anchor="t" rtlCol="false" tIns="0" lIns="0" bIns="0" rIns="0">
            <a:spAutoFit/>
          </a:bodyPr>
          <a:lstStyle/>
          <a:p>
            <a:pPr algn="l">
              <a:lnSpc>
                <a:spcPts val="4049"/>
              </a:lnSpc>
            </a:pPr>
            <a:r>
              <a:rPr lang="en-US" sz="2699">
                <a:solidFill>
                  <a:srgbClr val="000000"/>
                </a:solidFill>
                <a:latin typeface="Garet"/>
                <a:ea typeface="Garet"/>
                <a:cs typeface="Garet"/>
                <a:sym typeface="Garet"/>
              </a:rPr>
              <a:t>1.  </a:t>
            </a:r>
            <a:r>
              <a:rPr lang="en-US" sz="2699" b="true">
                <a:solidFill>
                  <a:srgbClr val="000000"/>
                </a:solidFill>
                <a:latin typeface="Garet Bold"/>
                <a:ea typeface="Garet Bold"/>
                <a:cs typeface="Garet Bold"/>
                <a:sym typeface="Garet Bold"/>
              </a:rPr>
              <a:t> Sensor Fusion &amp; Od</a:t>
            </a:r>
            <a:r>
              <a:rPr lang="en-US" sz="2699" b="true">
                <a:solidFill>
                  <a:srgbClr val="000000"/>
                </a:solidFill>
                <a:latin typeface="Garet Bold"/>
                <a:ea typeface="Garet Bold"/>
                <a:cs typeface="Garet Bold"/>
                <a:sym typeface="Garet Bold"/>
              </a:rPr>
              <a:t>ometry: </a:t>
            </a:r>
            <a:r>
              <a:rPr lang="en-US" sz="2699">
                <a:solidFill>
                  <a:srgbClr val="000000"/>
                </a:solidFill>
                <a:latin typeface="Garet"/>
                <a:ea typeface="Garet"/>
                <a:cs typeface="Garet"/>
                <a:sym typeface="Garet"/>
              </a:rPr>
              <a:t>Transition from open-loop GPS to precise dea</a:t>
            </a:r>
            <a:r>
              <a:rPr lang="en-US" sz="2699">
                <a:solidFill>
                  <a:srgbClr val="000000"/>
                </a:solidFill>
                <a:latin typeface="Garet"/>
                <a:ea typeface="Garet"/>
                <a:cs typeface="Garet"/>
                <a:sym typeface="Garet"/>
              </a:rPr>
              <a:t>d-reck</a:t>
            </a:r>
            <a:r>
              <a:rPr lang="en-US" sz="2699">
                <a:solidFill>
                  <a:srgbClr val="000000"/>
                </a:solidFill>
                <a:latin typeface="Garet"/>
                <a:ea typeface="Garet"/>
                <a:cs typeface="Garet"/>
                <a:sym typeface="Garet"/>
              </a:rPr>
              <a:t>oning. By combining motor encoders, RTK GPS, and a 9-DOF IMU through an Extended Kalman Filter (EKF), the robot will maintain accurate positioning even if GPS signals drop under heavy tree cover.</a:t>
            </a:r>
          </a:p>
          <a:p>
            <a:pPr algn="l">
              <a:lnSpc>
                <a:spcPts val="4049"/>
              </a:lnSpc>
            </a:pPr>
          </a:p>
          <a:p>
            <a:pPr algn="l">
              <a:lnSpc>
                <a:spcPts val="4049"/>
              </a:lnSpc>
            </a:pPr>
            <a:r>
              <a:rPr lang="en-US" sz="2699">
                <a:solidFill>
                  <a:srgbClr val="000000"/>
                </a:solidFill>
                <a:latin typeface="Garet"/>
                <a:ea typeface="Garet"/>
                <a:cs typeface="Garet"/>
                <a:sym typeface="Garet"/>
              </a:rPr>
              <a:t>2.</a:t>
            </a:r>
            <a:r>
              <a:rPr lang="en-US" b="true" sz="2699">
                <a:solidFill>
                  <a:srgbClr val="000000"/>
                </a:solidFill>
                <a:latin typeface="Garet Bold"/>
                <a:ea typeface="Garet Bold"/>
                <a:cs typeface="Garet Bold"/>
                <a:sym typeface="Garet Bold"/>
              </a:rPr>
              <a:t> Dynamic Obstacle Avoidance: </a:t>
            </a:r>
            <a:r>
              <a:rPr lang="en-US" sz="2699">
                <a:solidFill>
                  <a:srgbClr val="000000"/>
                </a:solidFill>
                <a:latin typeface="Garet"/>
                <a:ea typeface="Garet"/>
                <a:cs typeface="Garet"/>
                <a:sym typeface="Garet"/>
              </a:rPr>
              <a:t>Replace the basic</a:t>
            </a:r>
            <a:r>
              <a:rPr lang="en-US" sz="2699">
                <a:solidFill>
                  <a:srgbClr val="000000"/>
                </a:solidFill>
                <a:latin typeface="Garet"/>
                <a:ea typeface="Garet"/>
                <a:cs typeface="Garet"/>
                <a:sym typeface="Garet"/>
              </a:rPr>
              <a:t> "stop-and-wait" ultrasonic</a:t>
            </a:r>
            <a:r>
              <a:rPr lang="en-US" sz="2699">
                <a:solidFill>
                  <a:srgbClr val="000000"/>
                </a:solidFill>
                <a:latin typeface="Garet"/>
                <a:ea typeface="Garet"/>
                <a:cs typeface="Garet"/>
                <a:sym typeface="Garet"/>
              </a:rPr>
              <a:t> logic with a 2D LiDAR. Using a dedicated computer running ROS (Robot Operating System), the robot can use loc</a:t>
            </a:r>
            <a:r>
              <a:rPr lang="en-US" sz="2699">
                <a:solidFill>
                  <a:srgbClr val="000000"/>
                </a:solidFill>
                <a:latin typeface="Garet"/>
                <a:ea typeface="Garet"/>
                <a:cs typeface="Garet"/>
                <a:sym typeface="Garet"/>
              </a:rPr>
              <a:t>al path planners (like DWA or TEB) to dynamically route around pedestrians and obstacles on the fly.</a:t>
            </a:r>
          </a:p>
          <a:p>
            <a:pPr algn="l">
              <a:lnSpc>
                <a:spcPts val="4049"/>
              </a:lnSpc>
            </a:pPr>
          </a:p>
          <a:p>
            <a:pPr algn="l">
              <a:lnSpc>
                <a:spcPts val="4049"/>
              </a:lnSpc>
            </a:pPr>
            <a:r>
              <a:rPr lang="en-US" sz="2699">
                <a:solidFill>
                  <a:srgbClr val="000000"/>
                </a:solidFill>
                <a:latin typeface="Garet"/>
                <a:ea typeface="Garet"/>
                <a:cs typeface="Garet"/>
                <a:sym typeface="Garet"/>
              </a:rPr>
              <a:t>3.</a:t>
            </a:r>
            <a:r>
              <a:rPr lang="en-US" sz="2699">
                <a:solidFill>
                  <a:srgbClr val="000000"/>
                </a:solidFill>
                <a:latin typeface="Garet"/>
                <a:ea typeface="Garet"/>
                <a:cs typeface="Garet"/>
                <a:sym typeface="Garet"/>
              </a:rPr>
              <a:t>D</a:t>
            </a:r>
            <a:r>
              <a:rPr lang="en-US" b="true" sz="2699">
                <a:solidFill>
                  <a:srgbClr val="000000"/>
                </a:solidFill>
                <a:latin typeface="Garet Bold"/>
                <a:ea typeface="Garet Bold"/>
                <a:cs typeface="Garet Bold"/>
                <a:sym typeface="Garet Bold"/>
              </a:rPr>
              <a:t>istributed Compute Architecture:</a:t>
            </a:r>
            <a:r>
              <a:rPr lang="en-US" sz="2699">
                <a:solidFill>
                  <a:srgbClr val="000000"/>
                </a:solidFill>
                <a:latin typeface="Garet"/>
                <a:ea typeface="Garet"/>
                <a:cs typeface="Garet"/>
                <a:sym typeface="Garet"/>
              </a:rPr>
              <a:t> Split the processing workload. An onboard Linux computer (Raspberry Pi/Jetson) will handle the heavy lifting (ROS, global path planning, LTE communication), while the ESP32 acts strictly as a hard-real-time motor controller and safety watchdog.</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20</a:t>
            </a:r>
          </a:p>
        </p:txBody>
      </p:sp>
      <p:sp>
        <p:nvSpPr>
          <p:cNvPr name="TextBox 4" id="4"/>
          <p:cNvSpPr txBox="true"/>
          <p:nvPr/>
        </p:nvSpPr>
        <p:spPr>
          <a:xfrm rot="0">
            <a:off x="1028700" y="2417300"/>
            <a:ext cx="16230600" cy="5020311"/>
          </a:xfrm>
          <a:prstGeom prst="rect">
            <a:avLst/>
          </a:prstGeom>
        </p:spPr>
        <p:txBody>
          <a:bodyPr anchor="t" rtlCol="false" tIns="0" lIns="0" bIns="0" rIns="0">
            <a:spAutoFit/>
          </a:bodyPr>
          <a:lstStyle/>
          <a:p>
            <a:pPr algn="l">
              <a:lnSpc>
                <a:spcPts val="4479"/>
              </a:lnSpc>
            </a:pPr>
            <a:r>
              <a:rPr lang="en-US" sz="2799">
                <a:solidFill>
                  <a:srgbClr val="000000"/>
                </a:solidFill>
                <a:latin typeface="Garet"/>
                <a:ea typeface="Garet"/>
                <a:cs typeface="Garet"/>
                <a:sym typeface="Garet"/>
              </a:rPr>
              <a:t>1.  </a:t>
            </a:r>
            <a:r>
              <a:rPr lang="en-US" b="true" sz="2799">
                <a:solidFill>
                  <a:srgbClr val="000000"/>
                </a:solidFill>
                <a:latin typeface="Garet Bold"/>
                <a:ea typeface="Garet Bold"/>
                <a:cs typeface="Garet Bold"/>
                <a:sym typeface="Garet Bold"/>
              </a:rPr>
              <a:t> Cloud Conn</a:t>
            </a:r>
            <a:r>
              <a:rPr lang="en-US" b="true" sz="2799">
                <a:solidFill>
                  <a:srgbClr val="000000"/>
                </a:solidFill>
                <a:latin typeface="Garet Bold"/>
                <a:ea typeface="Garet Bold"/>
                <a:cs typeface="Garet Bold"/>
                <a:sym typeface="Garet Bold"/>
              </a:rPr>
              <a:t>ectivity &amp; Flee</a:t>
            </a:r>
            <a:r>
              <a:rPr lang="en-US" b="true" sz="2799">
                <a:solidFill>
                  <a:srgbClr val="000000"/>
                </a:solidFill>
                <a:latin typeface="Garet Bold"/>
                <a:ea typeface="Garet Bold"/>
                <a:cs typeface="Garet Bold"/>
                <a:sym typeface="Garet Bold"/>
              </a:rPr>
              <a:t>t</a:t>
            </a:r>
            <a:r>
              <a:rPr lang="en-US" b="true" sz="2799">
                <a:solidFill>
                  <a:srgbClr val="000000"/>
                </a:solidFill>
                <a:latin typeface="Garet Bold"/>
                <a:ea typeface="Garet Bold"/>
                <a:cs typeface="Garet Bold"/>
                <a:sym typeface="Garet Bold"/>
              </a:rPr>
              <a:t> Management:</a:t>
            </a:r>
            <a:r>
              <a:rPr lang="en-US" sz="2799">
                <a:solidFill>
                  <a:srgbClr val="000000"/>
                </a:solidFill>
                <a:latin typeface="Garet"/>
                <a:ea typeface="Garet"/>
                <a:cs typeface="Garet"/>
                <a:sym typeface="Garet"/>
              </a:rPr>
              <a:t> Upgrade from a local WiFi Access Point to a 4G/LTE modem connected to an IoT cloud backbone (e.g., AWS or Google Cloud). This enables centralized telemetry streaming and remote dispatcher control from anywhere in the world.</a:t>
            </a:r>
          </a:p>
          <a:p>
            <a:pPr algn="l">
              <a:lnSpc>
                <a:spcPts val="4479"/>
              </a:lnSpc>
            </a:pPr>
          </a:p>
          <a:p>
            <a:pPr algn="l">
              <a:lnSpc>
                <a:spcPts val="4479"/>
              </a:lnSpc>
            </a:pPr>
            <a:r>
              <a:rPr lang="en-US" sz="2799">
                <a:solidFill>
                  <a:srgbClr val="000000"/>
                </a:solidFill>
                <a:latin typeface="Garet"/>
                <a:ea typeface="Garet"/>
                <a:cs typeface="Garet"/>
                <a:sym typeface="Garet"/>
              </a:rPr>
              <a:t>2.</a:t>
            </a:r>
            <a:r>
              <a:rPr lang="en-US" b="true" sz="2799">
                <a:solidFill>
                  <a:srgbClr val="000000"/>
                </a:solidFill>
                <a:latin typeface="Garet Bold"/>
                <a:ea typeface="Garet Bold"/>
                <a:cs typeface="Garet Bold"/>
                <a:sym typeface="Garet Bold"/>
              </a:rPr>
              <a:t> Hardware Safety &amp; Security</a:t>
            </a:r>
            <a:r>
              <a:rPr lang="en-US" b="true" sz="2799">
                <a:solidFill>
                  <a:srgbClr val="000000"/>
                </a:solidFill>
                <a:latin typeface="Garet Bold"/>
                <a:ea typeface="Garet Bold"/>
                <a:cs typeface="Garet Bold"/>
                <a:sym typeface="Garet Bold"/>
              </a:rPr>
              <a:t>: </a:t>
            </a:r>
            <a:r>
              <a:rPr lang="en-US" sz="2799">
                <a:solidFill>
                  <a:srgbClr val="000000"/>
                </a:solidFill>
                <a:latin typeface="Garet"/>
                <a:ea typeface="Garet"/>
                <a:cs typeface="Garet"/>
                <a:sym typeface="Garet"/>
              </a:rPr>
              <a:t>Add phys</a:t>
            </a:r>
            <a:r>
              <a:rPr lang="en-US" sz="2799">
                <a:solidFill>
                  <a:srgbClr val="000000"/>
                </a:solidFill>
                <a:latin typeface="Garet"/>
                <a:ea typeface="Garet"/>
                <a:cs typeface="Garet"/>
                <a:sym typeface="Garet"/>
              </a:rPr>
              <a:t>ical safety features, including a hardware-interrupt Emergency Stop (E-Stop) button. Additionally, the delivery bay must be enc</a:t>
            </a:r>
            <a:r>
              <a:rPr lang="en-US" sz="2799">
                <a:solidFill>
                  <a:srgbClr val="000000"/>
                </a:solidFill>
                <a:latin typeface="Garet"/>
                <a:ea typeface="Garet"/>
                <a:cs typeface="Garet"/>
                <a:sym typeface="Garet"/>
              </a:rPr>
              <a:t>losed and fitted with an electronic lock that opens only via a recipient's OTP or QR code.</a:t>
            </a:r>
          </a:p>
        </p:txBody>
      </p:sp>
      <p:sp>
        <p:nvSpPr>
          <p:cNvPr name="AutoShape 5" id="5"/>
          <p:cNvSpPr/>
          <p:nvPr/>
        </p:nvSpPr>
        <p:spPr>
          <a:xfrm>
            <a:off x="-585133" y="8639171"/>
            <a:ext cx="18873133" cy="0"/>
          </a:xfrm>
          <a:prstGeom prst="line">
            <a:avLst/>
          </a:prstGeom>
          <a:ln cap="rnd" w="9525">
            <a:solidFill>
              <a:srgbClr val="000000"/>
            </a:solidFill>
            <a:prstDash val="solid"/>
            <a:headEnd type="none" len="sm" w="sm"/>
            <a:tailEnd type="none" len="sm" w="sm"/>
          </a:ln>
        </p:spPr>
      </p:sp>
      <p:sp>
        <p:nvSpPr>
          <p:cNvPr name="AutoShape 6" id="6"/>
          <p:cNvSpPr/>
          <p:nvPr/>
        </p:nvSpPr>
        <p:spPr>
          <a:xfrm>
            <a:off x="-585133" y="9167812"/>
            <a:ext cx="18873133" cy="0"/>
          </a:xfrm>
          <a:prstGeom prst="line">
            <a:avLst/>
          </a:prstGeom>
          <a:ln cap="rnd" w="9525">
            <a:solidFill>
              <a:srgbClr val="000000"/>
            </a:solidFill>
            <a:prstDash val="solid"/>
            <a:headEnd type="none" len="sm" w="sm"/>
            <a:tailEnd type="none" len="sm" w="sm"/>
          </a:ln>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2314827" y="3868645"/>
            <a:ext cx="14944473" cy="3380963"/>
          </a:xfrm>
          <a:prstGeom prst="rect">
            <a:avLst/>
          </a:prstGeom>
        </p:spPr>
        <p:txBody>
          <a:bodyPr anchor="t" rtlCol="false" tIns="0" lIns="0" bIns="0" rIns="0">
            <a:spAutoFit/>
          </a:bodyPr>
          <a:lstStyle/>
          <a:p>
            <a:pPr algn="r">
              <a:lnSpc>
                <a:spcPts val="8490"/>
              </a:lnSpc>
            </a:pPr>
            <a:r>
              <a:rPr lang="en-US" sz="10885" spc="-859">
                <a:solidFill>
                  <a:srgbClr val="000000"/>
                </a:solidFill>
                <a:latin typeface="Archivo Black"/>
                <a:ea typeface="Archivo Black"/>
                <a:cs typeface="Archivo Black"/>
                <a:sym typeface="Archivo Black"/>
              </a:rPr>
              <a:t>RESULTS AND CONCLUSION</a:t>
            </a:r>
          </a:p>
          <a:p>
            <a:pPr algn="r" marL="0" indent="0" lvl="0">
              <a:lnSpc>
                <a:spcPts val="8490"/>
              </a:lnSpc>
              <a:spcBef>
                <a:spcPct val="0"/>
              </a:spcBef>
            </a:pPr>
          </a:p>
        </p:txBody>
      </p:sp>
      <p:sp>
        <p:nvSpPr>
          <p:cNvPr name="TextBox 4" id="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21</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5" id="5"/>
          <p:cNvSpPr txBox="true"/>
          <p:nvPr/>
        </p:nvSpPr>
        <p:spPr>
          <a:xfrm rot="0">
            <a:off x="1028700" y="1123950"/>
            <a:ext cx="11625055" cy="1519129"/>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Results </a:t>
            </a:r>
          </a:p>
          <a:p>
            <a:pPr algn="l">
              <a:lnSpc>
                <a:spcPts val="5808"/>
              </a:lnSpc>
            </a:pPr>
          </a:p>
        </p:txBody>
      </p:sp>
      <p:sp>
        <p:nvSpPr>
          <p:cNvPr name="TextBox 6" id="6"/>
          <p:cNvSpPr txBox="true"/>
          <p:nvPr/>
        </p:nvSpPr>
        <p:spPr>
          <a:xfrm rot="0">
            <a:off x="1028700" y="2474450"/>
            <a:ext cx="16230600" cy="5241925"/>
          </a:xfrm>
          <a:prstGeom prst="rect">
            <a:avLst/>
          </a:prstGeom>
        </p:spPr>
        <p:txBody>
          <a:bodyPr anchor="t" rtlCol="false" tIns="0" lIns="0" bIns="0" rIns="0">
            <a:spAutoFit/>
          </a:bodyPr>
          <a:lstStyle/>
          <a:p>
            <a:pPr algn="l">
              <a:lnSpc>
                <a:spcPts val="3499"/>
              </a:lnSpc>
            </a:pPr>
            <a:r>
              <a:rPr lang="en-US" b="true" sz="2499">
                <a:solidFill>
                  <a:srgbClr val="000000"/>
                </a:solidFill>
                <a:latin typeface="Garet Bold"/>
                <a:ea typeface="Garet Bold"/>
                <a:cs typeface="Garet Bold"/>
                <a:sym typeface="Garet Bold"/>
              </a:rPr>
              <a:t>Firmware</a:t>
            </a:r>
            <a:r>
              <a:rPr lang="en-US" b="true" sz="2499">
                <a:solidFill>
                  <a:srgbClr val="000000"/>
                </a:solidFill>
                <a:latin typeface="Garet Bold"/>
                <a:ea typeface="Garet Bold"/>
                <a:cs typeface="Garet Bold"/>
                <a:sym typeface="Garet Bold"/>
              </a:rPr>
              <a:t> Stability: </a:t>
            </a:r>
            <a:r>
              <a:rPr lang="en-US" sz="2499">
                <a:solidFill>
                  <a:srgbClr val="000000"/>
                </a:solidFill>
                <a:latin typeface="Garet"/>
                <a:ea typeface="Garet"/>
                <a:cs typeface="Garet"/>
                <a:sym typeface="Garet"/>
              </a:rPr>
              <a:t>Version 4.0 of the firmware was successfully deployed, resolving critical logic bugs, including the elimination of hidden 90ms blocking delays in the ultrasonic read loop and fixing LEDC API incompatibilities between ESP32 Core versions.</a:t>
            </a:r>
          </a:p>
          <a:p>
            <a:pPr algn="l">
              <a:lnSpc>
                <a:spcPts val="3499"/>
              </a:lnSpc>
            </a:pPr>
          </a:p>
          <a:p>
            <a:pPr algn="l">
              <a:lnSpc>
                <a:spcPts val="3499"/>
              </a:lnSpc>
            </a:pPr>
            <a:r>
              <a:rPr lang="en-US" b="true" sz="2499">
                <a:solidFill>
                  <a:srgbClr val="000000"/>
                </a:solidFill>
                <a:latin typeface="Garet Bold"/>
                <a:ea typeface="Garet Bold"/>
                <a:cs typeface="Garet Bold"/>
                <a:sym typeface="Garet Bold"/>
              </a:rPr>
              <a:t>Hardware Validation: I</a:t>
            </a:r>
            <a:r>
              <a:rPr lang="en-US" sz="2499">
                <a:solidFill>
                  <a:srgbClr val="000000"/>
                </a:solidFill>
                <a:latin typeface="Garet"/>
                <a:ea typeface="Garet"/>
                <a:cs typeface="Garet"/>
                <a:sym typeface="Garet"/>
              </a:rPr>
              <a:t>ndividual validation sketches successfully demonstrated the isolated functionality of the 5-phase motor PWM ramping, sequential ultrasonic firing, raw I2C compass auto-detection, and non-blocking GPS byte drainage.</a:t>
            </a:r>
          </a:p>
          <a:p>
            <a:pPr algn="l">
              <a:lnSpc>
                <a:spcPts val="3499"/>
              </a:lnSpc>
            </a:pPr>
          </a:p>
          <a:p>
            <a:pPr algn="l">
              <a:lnSpc>
                <a:spcPts val="3499"/>
              </a:lnSpc>
            </a:pPr>
            <a:r>
              <a:rPr lang="en-US" b="true" sz="2499">
                <a:solidFill>
                  <a:srgbClr val="000000"/>
                </a:solidFill>
                <a:latin typeface="Garet Bold"/>
                <a:ea typeface="Garet Bold"/>
                <a:cs typeface="Garet Bold"/>
                <a:sym typeface="Garet Bold"/>
              </a:rPr>
              <a:t>Navigational Accuracy: </a:t>
            </a:r>
            <a:r>
              <a:rPr lang="en-US" sz="2499">
                <a:solidFill>
                  <a:srgbClr val="000000"/>
                </a:solidFill>
                <a:latin typeface="Garet"/>
                <a:ea typeface="Garet"/>
                <a:cs typeface="Garet"/>
                <a:sym typeface="Garet"/>
              </a:rPr>
              <a:t>The implementation of the waypoint queue system successfully corrected previous navigational failures, allowing the chassis to handle V-shaped roads, complex curves, and real-world GPS drift without requiring manual steering intervention.</a:t>
            </a:r>
          </a:p>
          <a:p>
            <a:pPr algn="l">
              <a:lnSpc>
                <a:spcPts val="3499"/>
              </a:lnSpc>
            </a:pP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5" id="5"/>
          <p:cNvSpPr txBox="true"/>
          <p:nvPr/>
        </p:nvSpPr>
        <p:spPr>
          <a:xfrm rot="0">
            <a:off x="1028700" y="1123950"/>
            <a:ext cx="11625055" cy="785704"/>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Applications</a:t>
            </a:r>
          </a:p>
        </p:txBody>
      </p:sp>
      <p:sp>
        <p:nvSpPr>
          <p:cNvPr name="TextBox 6" id="6"/>
          <p:cNvSpPr txBox="true"/>
          <p:nvPr/>
        </p:nvSpPr>
        <p:spPr>
          <a:xfrm rot="0">
            <a:off x="1047750" y="2522075"/>
            <a:ext cx="16230600" cy="4265296"/>
          </a:xfrm>
          <a:prstGeom prst="rect">
            <a:avLst/>
          </a:prstGeom>
        </p:spPr>
        <p:txBody>
          <a:bodyPr anchor="t" rtlCol="false" tIns="0" lIns="0" bIns="0" rIns="0">
            <a:spAutoFit/>
          </a:bodyPr>
          <a:lstStyle/>
          <a:p>
            <a:pPr algn="l">
              <a:lnSpc>
                <a:spcPts val="3779"/>
              </a:lnSpc>
            </a:pPr>
            <a:r>
              <a:rPr lang="en-US" b="true" sz="2699">
                <a:solidFill>
                  <a:srgbClr val="000000"/>
                </a:solidFill>
                <a:latin typeface="Garet Bold"/>
                <a:ea typeface="Garet Bold"/>
                <a:cs typeface="Garet Bold"/>
                <a:sym typeface="Garet Bold"/>
              </a:rPr>
              <a:t>Camp</a:t>
            </a:r>
            <a:r>
              <a:rPr lang="en-US" b="true" sz="2699">
                <a:solidFill>
                  <a:srgbClr val="000000"/>
                </a:solidFill>
                <a:latin typeface="Garet Bold"/>
                <a:ea typeface="Garet Bold"/>
                <a:cs typeface="Garet Bold"/>
                <a:sym typeface="Garet Bold"/>
              </a:rPr>
              <a:t>us Logistics: </a:t>
            </a:r>
            <a:r>
              <a:rPr lang="en-US" sz="2699">
                <a:solidFill>
                  <a:srgbClr val="000000"/>
                </a:solidFill>
                <a:latin typeface="Garet"/>
                <a:ea typeface="Garet"/>
                <a:cs typeface="Garet"/>
                <a:sym typeface="Garet"/>
              </a:rPr>
              <a:t>Automated, contactless transport of library books, administrative documents, or lab materials between university departments.</a:t>
            </a:r>
          </a:p>
          <a:p>
            <a:pPr algn="l">
              <a:lnSpc>
                <a:spcPts val="3779"/>
              </a:lnSpc>
            </a:pPr>
          </a:p>
          <a:p>
            <a:pPr algn="l">
              <a:lnSpc>
                <a:spcPts val="3779"/>
              </a:lnSpc>
            </a:pPr>
            <a:r>
              <a:rPr lang="en-US" b="true" sz="2699">
                <a:solidFill>
                  <a:srgbClr val="000000"/>
                </a:solidFill>
                <a:latin typeface="Garet Bold"/>
                <a:ea typeface="Garet Bold"/>
                <a:cs typeface="Garet Bold"/>
                <a:sym typeface="Garet Bold"/>
              </a:rPr>
              <a:t>Medical Facilities: </a:t>
            </a:r>
            <a:r>
              <a:rPr lang="en-US" sz="2699">
                <a:solidFill>
                  <a:srgbClr val="000000"/>
                </a:solidFill>
                <a:latin typeface="Garet"/>
                <a:ea typeface="Garet"/>
                <a:cs typeface="Garet"/>
                <a:sym typeface="Garet"/>
              </a:rPr>
              <a:t>Safe transportation of non critical medical supplies or sterile equipment across hospital wings without tying up human staff.</a:t>
            </a:r>
          </a:p>
          <a:p>
            <a:pPr algn="l">
              <a:lnSpc>
                <a:spcPts val="3779"/>
              </a:lnSpc>
            </a:pPr>
          </a:p>
          <a:p>
            <a:pPr algn="l">
              <a:lnSpc>
                <a:spcPts val="3779"/>
              </a:lnSpc>
            </a:pPr>
            <a:r>
              <a:rPr lang="en-US" b="true" sz="2699">
                <a:solidFill>
                  <a:srgbClr val="000000"/>
                </a:solidFill>
                <a:latin typeface="Garet Bold"/>
                <a:ea typeface="Garet Bold"/>
                <a:cs typeface="Garet Bold"/>
                <a:sym typeface="Garet Bold"/>
              </a:rPr>
              <a:t>Corporate Tech Parks: </a:t>
            </a:r>
            <a:r>
              <a:rPr lang="en-US" sz="2699">
                <a:solidFill>
                  <a:srgbClr val="000000"/>
                </a:solidFill>
                <a:latin typeface="Garet"/>
                <a:ea typeface="Garet"/>
                <a:cs typeface="Garet"/>
                <a:sym typeface="Garet"/>
              </a:rPr>
              <a:t>Last-mile parcel delivery within closed, geofenced corporate environments.</a:t>
            </a:r>
          </a:p>
          <a:p>
            <a:pPr algn="l">
              <a:lnSpc>
                <a:spcPts val="3779"/>
              </a:lnSpc>
            </a:pP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23</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5" id="5"/>
          <p:cNvSpPr txBox="true"/>
          <p:nvPr/>
        </p:nvSpPr>
        <p:spPr>
          <a:xfrm rot="0">
            <a:off x="1028700" y="1123950"/>
            <a:ext cx="11625055" cy="785704"/>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Conclusion</a:t>
            </a:r>
          </a:p>
        </p:txBody>
      </p:sp>
      <p:sp>
        <p:nvSpPr>
          <p:cNvPr name="TextBox 6" id="6"/>
          <p:cNvSpPr txBox="true"/>
          <p:nvPr/>
        </p:nvSpPr>
        <p:spPr>
          <a:xfrm rot="0">
            <a:off x="1028700" y="2034327"/>
            <a:ext cx="16230600" cy="4156076"/>
          </a:xfrm>
          <a:prstGeom prst="rect">
            <a:avLst/>
          </a:prstGeom>
        </p:spPr>
        <p:txBody>
          <a:bodyPr anchor="t" rtlCol="false" tIns="0" lIns="0" bIns="0" rIns="0">
            <a:spAutoFit/>
          </a:bodyPr>
          <a:lstStyle/>
          <a:p>
            <a:pPr algn="l">
              <a:lnSpc>
                <a:spcPts val="4174"/>
              </a:lnSpc>
            </a:pPr>
            <a:r>
              <a:rPr lang="en-US" sz="2499" spc="312">
                <a:solidFill>
                  <a:srgbClr val="000000"/>
                </a:solidFill>
                <a:latin typeface="Garet"/>
                <a:ea typeface="Garet"/>
                <a:cs typeface="Garet"/>
                <a:sym typeface="Garet"/>
              </a:rPr>
              <a:t>This project successfully demonstrates the </a:t>
            </a:r>
            <a:r>
              <a:rPr lang="en-US" sz="2499" spc="312">
                <a:solidFill>
                  <a:srgbClr val="000000"/>
                </a:solidFill>
                <a:latin typeface="Garet"/>
                <a:ea typeface="Garet"/>
                <a:cs typeface="Garet"/>
                <a:sym typeface="Garet"/>
              </a:rPr>
              <a:t>integration of multiple distinct sensor technologies into a cohesive, autonomous robotic platform. By strictly adhering to non blocking software architecture and leveraging an ESP32 as both an embedded web server and a localized navigation brain, the system bridges the gap between hardware abstraction and practical logistics. The DeliveryBot prototype satisfies the core objectives of spatial awareness, waypoint navigation, and user accessible dispatching, proving the viability of autonomous robotic transit within complex, structured environments.</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24</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2875232" y="2108092"/>
            <a:ext cx="9158799" cy="7585183"/>
          </a:xfrm>
          <a:custGeom>
            <a:avLst/>
            <a:gdLst/>
            <a:ahLst/>
            <a:cxnLst/>
            <a:rect r="r" b="b" t="t" l="l"/>
            <a:pathLst>
              <a:path h="7585183" w="9158799">
                <a:moveTo>
                  <a:pt x="0" y="0"/>
                </a:moveTo>
                <a:lnTo>
                  <a:pt x="9158799" y="0"/>
                </a:lnTo>
                <a:lnTo>
                  <a:pt x="9158799" y="7585183"/>
                </a:lnTo>
                <a:lnTo>
                  <a:pt x="0" y="7585183"/>
                </a:lnTo>
                <a:lnTo>
                  <a:pt x="0" y="0"/>
                </a:lnTo>
                <a:close/>
              </a:path>
            </a:pathLst>
          </a:custGeom>
          <a:blipFill>
            <a:blip r:embed="rId3"/>
            <a:stretch>
              <a:fillRect l="0" t="0" r="0" b="0"/>
            </a:stretch>
          </a:blipFill>
        </p:spPr>
      </p:sp>
      <p:sp>
        <p:nvSpPr>
          <p:cNvPr name="TextBox 4" id="4"/>
          <p:cNvSpPr txBox="true"/>
          <p:nvPr/>
        </p:nvSpPr>
        <p:spPr>
          <a:xfrm rot="0">
            <a:off x="1028700" y="1123950"/>
            <a:ext cx="11625055" cy="785704"/>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Estimated Cost</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25</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3855615" y="2898590"/>
            <a:ext cx="13403685" cy="1228346"/>
          </a:xfrm>
          <a:prstGeom prst="rect">
            <a:avLst/>
          </a:prstGeom>
        </p:spPr>
        <p:txBody>
          <a:bodyPr anchor="t" rtlCol="false" tIns="0" lIns="0" bIns="0" rIns="0">
            <a:spAutoFit/>
          </a:bodyPr>
          <a:lstStyle/>
          <a:p>
            <a:pPr algn="r" marL="0" indent="0" lvl="0">
              <a:lnSpc>
                <a:spcPts val="8490"/>
              </a:lnSpc>
              <a:spcBef>
                <a:spcPct val="0"/>
              </a:spcBef>
            </a:pPr>
            <a:r>
              <a:rPr lang="en-US" sz="10885" spc="-859">
                <a:solidFill>
                  <a:srgbClr val="000000"/>
                </a:solidFill>
                <a:latin typeface="Archivo Black"/>
                <a:ea typeface="Archivo Black"/>
                <a:cs typeface="Archivo Black"/>
                <a:sym typeface="Archivo Black"/>
              </a:rPr>
              <a:t>THANK YOU!</a:t>
            </a:r>
          </a:p>
        </p:txBody>
      </p:sp>
      <p:sp>
        <p:nvSpPr>
          <p:cNvPr name="AutoShape 4" id="4"/>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5" id="5"/>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DAHH3gkPomQ</dc:identifier>
  <dcterms:modified xsi:type="dcterms:W3CDTF">2011-08-01T06:04:30Z</dcterms:modified>
  <cp:revision>1</cp:revision>
  <dc:title>sensor project</dc:title>
</cp:coreProperties>
</file>